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256" r:id="rId2"/>
    <p:sldId id="282" r:id="rId3"/>
    <p:sldId id="283" r:id="rId4"/>
    <p:sldId id="261" r:id="rId5"/>
    <p:sldId id="391" r:id="rId6"/>
    <p:sldId id="286" r:id="rId7"/>
    <p:sldId id="285" r:id="rId8"/>
    <p:sldId id="290" r:id="rId9"/>
    <p:sldId id="319" r:id="rId10"/>
    <p:sldId id="292" r:id="rId11"/>
    <p:sldId id="394" r:id="rId12"/>
    <p:sldId id="395" r:id="rId13"/>
    <p:sldId id="396" r:id="rId14"/>
    <p:sldId id="400" r:id="rId15"/>
    <p:sldId id="397" r:id="rId16"/>
    <p:sldId id="398" r:id="rId17"/>
    <p:sldId id="399" r:id="rId18"/>
    <p:sldId id="401" r:id="rId19"/>
    <p:sldId id="402" r:id="rId20"/>
    <p:sldId id="403" r:id="rId21"/>
    <p:sldId id="404" r:id="rId22"/>
    <p:sldId id="405" r:id="rId23"/>
    <p:sldId id="411" r:id="rId24"/>
    <p:sldId id="406" r:id="rId25"/>
    <p:sldId id="408" r:id="rId26"/>
    <p:sldId id="407" r:id="rId27"/>
    <p:sldId id="409" r:id="rId28"/>
    <p:sldId id="410" r:id="rId29"/>
    <p:sldId id="428" r:id="rId30"/>
    <p:sldId id="429" r:id="rId31"/>
    <p:sldId id="412" r:id="rId32"/>
    <p:sldId id="413" r:id="rId33"/>
    <p:sldId id="414" r:id="rId34"/>
    <p:sldId id="415" r:id="rId35"/>
    <p:sldId id="416" r:id="rId36"/>
    <p:sldId id="417" r:id="rId37"/>
    <p:sldId id="418" r:id="rId38"/>
    <p:sldId id="419" r:id="rId39"/>
    <p:sldId id="420" r:id="rId40"/>
    <p:sldId id="421" r:id="rId41"/>
    <p:sldId id="422" r:id="rId42"/>
    <p:sldId id="423" r:id="rId43"/>
    <p:sldId id="424" r:id="rId44"/>
    <p:sldId id="427" r:id="rId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4555"/>
    <a:srgbClr val="E14656"/>
    <a:srgbClr val="D816BC"/>
    <a:srgbClr val="0099CC"/>
    <a:srgbClr val="E94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42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498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6081CE2F-C574-80EF-5747-A9245731716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7FCC861-648D-50B6-79A1-796C5B0E9F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E88713-E174-4349-BFC4-6EFC114B3E0D}" type="datetimeFigureOut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38F0F4A-93A0-8D92-22DF-51D7770981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20CE2EE-2AF9-65D1-6C76-6E49B155D31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56F71E-24F8-4536-B10D-00B5069ABA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826192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379676-017F-4568-8715-BF0D48585B75}" type="datetimeFigureOut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2EE46A-F822-46B9-A4CB-87818B506A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80382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34370-40FB-475F-AD35-CCD4FDE424B7}" type="datetime1">
              <a:rPr lang="en-US" altLang="ja-JP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79D7-5AA5-4850-AE45-29A9A0ECEB48}" type="datetime1">
              <a:rPr lang="en-US" altLang="ja-JP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77536-DA5F-41C6-BBF2-6E35F87A6142}" type="datetime1">
              <a:rPr lang="en-US" altLang="ja-JP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27B27-C5D8-4894-9ECE-7FC7B5F04ED5}" type="datetime1">
              <a:rPr lang="en-US" altLang="ja-JP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20E33-C8D2-41C6-B6C1-47F2281F6D72}" type="datetime1">
              <a:rPr lang="en-US" altLang="ja-JP" smtClean="0"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4174-3442-44AC-B510-D8FCDCC14897}" type="datetime1">
              <a:rPr lang="en-US" altLang="ja-JP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71262-BE2C-4389-9868-E899A79A9057}" type="datetime1">
              <a:rPr lang="en-US" altLang="ja-JP" smtClean="0"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5C13C-BEA9-486C-BF5B-2BEBA009AB8D}" type="datetime1">
              <a:rPr lang="en-US" altLang="ja-JP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F6BE3-A662-4CEE-BA9F-FD2A46736EFF}" type="datetime1">
              <a:rPr lang="en-US" altLang="ja-JP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60EC3-7B9D-47FF-80B4-13DE00F0F654}" type="datetime1">
              <a:rPr lang="en-US" altLang="ja-JP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9389E-81A3-42C6-BF38-21D0E5195125}" type="datetime1">
              <a:rPr lang="en-US" altLang="ja-JP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88483B-2E20-4D3E-BE06-DCF4256A9BB0}" type="datetime1">
              <a:rPr lang="en-US" altLang="ja-JP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hyperlink" Target="https://tarosay.github.io/Raspi-IP_Scan/" TargetMode="Externa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96853" y="2267527"/>
            <a:ext cx="5750292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ja-JP" altLang="en-US" sz="3600" dirty="0"/>
              <a:t>ラズパイ</a:t>
            </a:r>
            <a:r>
              <a:rPr lang="en-US" altLang="ja-JP" sz="3600" dirty="0"/>
              <a:t>Zero</a:t>
            </a:r>
            <a:r>
              <a:rPr lang="ja-JP" altLang="en-US" sz="3600" dirty="0"/>
              <a:t>初めての起動と</a:t>
            </a:r>
            <a:endParaRPr lang="en-US" altLang="ja-JP" sz="3600" dirty="0"/>
          </a:p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en-US" altLang="ja-JP" sz="3600" dirty="0" err="1"/>
              <a:t>WiFi</a:t>
            </a:r>
            <a:r>
              <a:rPr lang="ja-JP" altLang="en-US" sz="3600" dirty="0"/>
              <a:t>接続</a:t>
            </a:r>
            <a:endParaRPr sz="3600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EC36234-9633-ABEB-F534-67AA9ED05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0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40A8B-701C-DEA7-B5F1-FF655CEE1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42F1A7-75E6-AAE6-35D0-6728AA94EE37}"/>
              </a:ext>
            </a:extLst>
          </p:cNvPr>
          <p:cNvSpPr txBox="1"/>
          <p:nvPr/>
        </p:nvSpPr>
        <p:spPr>
          <a:xfrm>
            <a:off x="422208" y="130875"/>
            <a:ext cx="82995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ja-JP" altLang="en-US" sz="2800" dirty="0"/>
              <a:t>ラズベリー</a:t>
            </a:r>
            <a:r>
              <a:rPr sz="2800" dirty="0" err="1"/>
              <a:t>パイ</a:t>
            </a:r>
            <a:r>
              <a:rPr lang="en-US" sz="2800" dirty="0"/>
              <a:t>(Raspberry Pi Zero 2 W)</a:t>
            </a:r>
            <a:r>
              <a:rPr lang="ja-JP" altLang="en-US" sz="2800" dirty="0"/>
              <a:t>について</a:t>
            </a:r>
            <a:endParaRPr sz="2800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F2C25C0-850B-61E8-9BEA-5A852900F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3342B7B-755B-A10F-D4E5-18632DE3EA06}"/>
              </a:ext>
            </a:extLst>
          </p:cNvPr>
          <p:cNvSpPr txBox="1"/>
          <p:nvPr/>
        </p:nvSpPr>
        <p:spPr>
          <a:xfrm>
            <a:off x="5109327" y="1650919"/>
            <a:ext cx="30292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ラズパイの小型版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D3C69F1-6FF7-C66F-1F1E-E2FF818798DB}"/>
              </a:ext>
            </a:extLst>
          </p:cNvPr>
          <p:cNvSpPr txBox="1"/>
          <p:nvPr/>
        </p:nvSpPr>
        <p:spPr>
          <a:xfrm>
            <a:off x="5109327" y="3613037"/>
            <a:ext cx="3623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OS</a:t>
            </a:r>
            <a:r>
              <a:rPr kumimoji="1" lang="ja-JP" altLang="en-US" sz="2000" dirty="0"/>
              <a:t>が動く本格的なコンピュータ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A45BC91-CF6A-C478-E381-0BB6204B7058}"/>
              </a:ext>
            </a:extLst>
          </p:cNvPr>
          <p:cNvSpPr txBox="1"/>
          <p:nvPr/>
        </p:nvSpPr>
        <p:spPr>
          <a:xfrm>
            <a:off x="5109327" y="5267535"/>
            <a:ext cx="3623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err="1"/>
              <a:t>linux</a:t>
            </a:r>
            <a:r>
              <a:rPr kumimoji="1" lang="ja-JP" altLang="en-US" sz="2000" dirty="0"/>
              <a:t>ベースの</a:t>
            </a:r>
            <a:r>
              <a:rPr kumimoji="1" lang="en-US" altLang="ja-JP" sz="2000" dirty="0" err="1"/>
              <a:t>RaspiOS</a:t>
            </a:r>
            <a:r>
              <a:rPr kumimoji="1" lang="ja-JP" altLang="en-US" sz="2000" dirty="0"/>
              <a:t>搭載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D6EF0E67-8E7D-6343-C1E5-5AE8E5AFCB9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91450" y="1158429"/>
            <a:ext cx="2732299" cy="1631428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625D3390-8526-F4BD-B83B-14F811BB404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2846763" y="2463427"/>
            <a:ext cx="1421676" cy="2732299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59542C24-F966-F34E-46C2-0084F73B587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91450" y="4869296"/>
            <a:ext cx="2732299" cy="132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703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D2AA1-026B-E4DD-2B7D-C96624466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3FCC37-AF5E-5ED4-758E-E45891206E05}"/>
              </a:ext>
            </a:extLst>
          </p:cNvPr>
          <p:cNvSpPr txBox="1"/>
          <p:nvPr/>
        </p:nvSpPr>
        <p:spPr>
          <a:xfrm>
            <a:off x="2787697" y="143928"/>
            <a:ext cx="356860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rPr lang="ja-JP" altLang="en-US" sz="2800" dirty="0"/>
              <a:t>ラズベリー</a:t>
            </a:r>
            <a:r>
              <a:rPr sz="2800" dirty="0" err="1"/>
              <a:t>パイ</a:t>
            </a:r>
            <a:r>
              <a:rPr lang="ja-JP" altLang="en-US" sz="2800" dirty="0"/>
              <a:t>の選定</a:t>
            </a:r>
            <a:endParaRPr sz="2800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2465971-207B-AFF4-F7E9-BA360EC99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F4E9974-B2EB-0F16-236D-71BF3DD13097}"/>
              </a:ext>
            </a:extLst>
          </p:cNvPr>
          <p:cNvSpPr txBox="1"/>
          <p:nvPr/>
        </p:nvSpPr>
        <p:spPr>
          <a:xfrm>
            <a:off x="448945" y="1080760"/>
            <a:ext cx="370422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　・</a:t>
            </a:r>
            <a:r>
              <a:rPr kumimoji="1" lang="en-US" altLang="ja-JP" sz="2400" dirty="0"/>
              <a:t>Raspberry Pi 5</a:t>
            </a:r>
          </a:p>
          <a:p>
            <a:r>
              <a:rPr kumimoji="1" lang="ja-JP" altLang="en-US" sz="2400" dirty="0"/>
              <a:t>　・</a:t>
            </a:r>
            <a:r>
              <a:rPr kumimoji="1" lang="en-US" altLang="ja-JP" sz="2400" dirty="0"/>
              <a:t>Raspberry Pi 4 Model B</a:t>
            </a:r>
          </a:p>
          <a:p>
            <a:r>
              <a:rPr kumimoji="1" lang="ja-JP" altLang="en-US" sz="2400" dirty="0"/>
              <a:t>　・</a:t>
            </a:r>
            <a:r>
              <a:rPr kumimoji="1" lang="en-US" altLang="ja-JP" sz="2400" dirty="0"/>
              <a:t>Raspberry Pi 3 Model A+</a:t>
            </a:r>
          </a:p>
          <a:p>
            <a:r>
              <a:rPr kumimoji="1" lang="ja-JP" altLang="en-US" sz="2400" dirty="0"/>
              <a:t>　・</a:t>
            </a:r>
            <a:r>
              <a:rPr kumimoji="1" lang="en-US" altLang="ja-JP" sz="2400" dirty="0"/>
              <a:t>Raspberry Pi 3 Model B+</a:t>
            </a:r>
          </a:p>
          <a:p>
            <a:r>
              <a:rPr kumimoji="1" lang="ja-JP" altLang="en-US" sz="2400" dirty="0"/>
              <a:t>　・</a:t>
            </a:r>
            <a:r>
              <a:rPr kumimoji="1" lang="en-US" altLang="ja-JP" sz="2400" dirty="0"/>
              <a:t>Raspberry Pi 3 Model B</a:t>
            </a:r>
          </a:p>
          <a:p>
            <a:endParaRPr kumimoji="1" lang="en-US" altLang="ja-JP" sz="2400" dirty="0"/>
          </a:p>
          <a:p>
            <a:r>
              <a:rPr kumimoji="1" lang="ja-JP" altLang="en-US" sz="2400" dirty="0"/>
              <a:t>　・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Raspberry Pi Zero 2W</a:t>
            </a:r>
          </a:p>
          <a:p>
            <a:r>
              <a:rPr kumimoji="1" lang="ja-JP" altLang="en-US" sz="2400" dirty="0"/>
              <a:t>　・</a:t>
            </a:r>
            <a:r>
              <a:rPr kumimoji="1" lang="en-US" altLang="ja-JP" sz="2400" dirty="0"/>
              <a:t>Raspberry Pi Zero W</a:t>
            </a:r>
          </a:p>
          <a:p>
            <a:r>
              <a:rPr kumimoji="1" lang="ja-JP" altLang="en-US" sz="2400" dirty="0"/>
              <a:t>　・</a:t>
            </a:r>
            <a:r>
              <a:rPr kumimoji="1" lang="en-US" altLang="ja-JP" sz="2400" dirty="0"/>
              <a:t>Raspberry Pi Zero</a:t>
            </a:r>
          </a:p>
          <a:p>
            <a:endParaRPr kumimoji="1" lang="en-US" altLang="ja-JP" sz="2400" dirty="0"/>
          </a:p>
          <a:p>
            <a:r>
              <a:rPr kumimoji="1" lang="ja-JP" altLang="en-US" sz="2400" dirty="0"/>
              <a:t>　・</a:t>
            </a:r>
            <a:r>
              <a:rPr kumimoji="1" lang="en-US" altLang="ja-JP" sz="2400" dirty="0"/>
              <a:t>Raspberry Pi Pico 2W</a:t>
            </a:r>
          </a:p>
          <a:p>
            <a:r>
              <a:rPr kumimoji="1" lang="ja-JP" altLang="en-US" sz="2400" dirty="0"/>
              <a:t>　・</a:t>
            </a:r>
            <a:r>
              <a:rPr kumimoji="1" lang="en-US" altLang="ja-JP" sz="2400" dirty="0"/>
              <a:t>Raspberry Pi Pico 2</a:t>
            </a:r>
          </a:p>
          <a:p>
            <a:r>
              <a:rPr kumimoji="1" lang="ja-JP" altLang="en-US" sz="2400" dirty="0"/>
              <a:t>　・</a:t>
            </a:r>
            <a:r>
              <a:rPr kumimoji="1" lang="en-US" altLang="ja-JP" sz="2400" dirty="0"/>
              <a:t>Raspberry Pi Pico W</a:t>
            </a:r>
          </a:p>
          <a:p>
            <a:r>
              <a:rPr kumimoji="1" lang="ja-JP" altLang="en-US" sz="2400" dirty="0"/>
              <a:t>　・</a:t>
            </a:r>
            <a:r>
              <a:rPr kumimoji="1" lang="en-US" altLang="ja-JP" sz="2400" dirty="0"/>
              <a:t>Raspberry Pi Pico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AE12044-F93F-ECD7-24E4-F83390581BA5}"/>
              </a:ext>
            </a:extLst>
          </p:cNvPr>
          <p:cNvSpPr txBox="1"/>
          <p:nvPr/>
        </p:nvSpPr>
        <p:spPr>
          <a:xfrm>
            <a:off x="4361427" y="1932126"/>
            <a:ext cx="3623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dirty="0"/>
              <a:t>OS</a:t>
            </a:r>
            <a:r>
              <a:rPr kumimoji="1" lang="ja-JP" altLang="en-US" sz="2000" dirty="0"/>
              <a:t>が動く本格的なコンピュータ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6C161F9-A277-2906-BE3A-7B50134301AC}"/>
              </a:ext>
            </a:extLst>
          </p:cNvPr>
          <p:cNvSpPr txBox="1"/>
          <p:nvPr/>
        </p:nvSpPr>
        <p:spPr>
          <a:xfrm>
            <a:off x="4264203" y="5266398"/>
            <a:ext cx="4681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dirty="0"/>
              <a:t>OS</a:t>
            </a:r>
            <a:r>
              <a:rPr kumimoji="1" lang="ja-JP" altLang="en-US" sz="2000" dirty="0"/>
              <a:t>搭載を目的としていないマイコンボード</a:t>
            </a:r>
          </a:p>
        </p:txBody>
      </p:sp>
      <p:sp>
        <p:nvSpPr>
          <p:cNvPr id="4" name="右中かっこ 3">
            <a:extLst>
              <a:ext uri="{FF2B5EF4-FFF2-40B4-BE49-F238E27FC236}">
                <a16:creationId xmlns:a16="http://schemas.microsoft.com/office/drawing/2014/main" id="{F701B7D8-E892-6EDB-53BD-5F2838535D32}"/>
              </a:ext>
            </a:extLst>
          </p:cNvPr>
          <p:cNvSpPr/>
          <p:nvPr/>
        </p:nvSpPr>
        <p:spPr>
          <a:xfrm>
            <a:off x="3877897" y="1263963"/>
            <a:ext cx="483530" cy="1736436"/>
          </a:xfrm>
          <a:prstGeom prst="rightBrace">
            <a:avLst>
              <a:gd name="adj1" fmla="val 29762"/>
              <a:gd name="adj2" fmla="val 50000"/>
            </a:avLst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右中かっこ 5">
            <a:extLst>
              <a:ext uri="{FF2B5EF4-FFF2-40B4-BE49-F238E27FC236}">
                <a16:creationId xmlns:a16="http://schemas.microsoft.com/office/drawing/2014/main" id="{94906DA5-C595-CBB5-2F07-E341046C08A9}"/>
              </a:ext>
            </a:extLst>
          </p:cNvPr>
          <p:cNvSpPr/>
          <p:nvPr/>
        </p:nvSpPr>
        <p:spPr>
          <a:xfrm>
            <a:off x="3877897" y="3247470"/>
            <a:ext cx="397163" cy="1181238"/>
          </a:xfrm>
          <a:prstGeom prst="rightBrace">
            <a:avLst>
              <a:gd name="adj1" fmla="val 25942"/>
              <a:gd name="adj2" fmla="val 50000"/>
            </a:avLst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52B9D34-D71C-764E-D20C-93F4788DB921}"/>
              </a:ext>
            </a:extLst>
          </p:cNvPr>
          <p:cNvSpPr txBox="1"/>
          <p:nvPr/>
        </p:nvSpPr>
        <p:spPr>
          <a:xfrm>
            <a:off x="4120788" y="3503620"/>
            <a:ext cx="36234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 dirty="0"/>
              <a:t>メインの</a:t>
            </a:r>
            <a:r>
              <a:rPr kumimoji="1" lang="en-US" altLang="ja-JP" sz="2000" dirty="0"/>
              <a:t>Pi</a:t>
            </a:r>
            <a:r>
              <a:rPr kumimoji="1" lang="ja-JP" altLang="en-US" sz="2000" dirty="0"/>
              <a:t>シリーズの小型版</a:t>
            </a:r>
            <a:br>
              <a:rPr kumimoji="1" lang="ja-JP" altLang="en-US" sz="2000" dirty="0"/>
            </a:br>
            <a:r>
              <a:rPr kumimoji="1" lang="ja-JP" altLang="en-US" sz="2000" dirty="0"/>
              <a:t>処理速度が遅くて小メモリ</a:t>
            </a:r>
          </a:p>
        </p:txBody>
      </p:sp>
      <p:sp>
        <p:nvSpPr>
          <p:cNvPr id="13" name="右中かっこ 12">
            <a:extLst>
              <a:ext uri="{FF2B5EF4-FFF2-40B4-BE49-F238E27FC236}">
                <a16:creationId xmlns:a16="http://schemas.microsoft.com/office/drawing/2014/main" id="{9855FCEB-5FA5-BE37-5DC1-A6FCBD020C02}"/>
              </a:ext>
            </a:extLst>
          </p:cNvPr>
          <p:cNvSpPr/>
          <p:nvPr/>
        </p:nvSpPr>
        <p:spPr>
          <a:xfrm>
            <a:off x="3877897" y="4772255"/>
            <a:ext cx="397163" cy="1388395"/>
          </a:xfrm>
          <a:prstGeom prst="rightBrace">
            <a:avLst>
              <a:gd name="adj1" fmla="val 25942"/>
              <a:gd name="adj2" fmla="val 50000"/>
            </a:avLst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3BED61F-7361-7CA6-7D9C-E0162E1F13C8}"/>
              </a:ext>
            </a:extLst>
          </p:cNvPr>
          <p:cNvSpPr txBox="1"/>
          <p:nvPr/>
        </p:nvSpPr>
        <p:spPr>
          <a:xfrm>
            <a:off x="351222" y="619095"/>
            <a:ext cx="5303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ラズパイにはたくさんの種類があります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7850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72B108F8-A368-AA75-20A4-F759FF6446B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0968" y="2403954"/>
            <a:ext cx="6302063" cy="304983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477516" y="150380"/>
            <a:ext cx="418896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ja-JP" altLang="en-US" sz="2800" dirty="0"/>
              <a:t>ラズベリーパイの組み立て</a:t>
            </a:r>
            <a:endParaRPr sz="2800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D267B84-86D0-E883-2448-91634E815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A49C80A-E950-842F-2884-2EB554362FF5}"/>
              </a:ext>
            </a:extLst>
          </p:cNvPr>
          <p:cNvSpPr txBox="1"/>
          <p:nvPr/>
        </p:nvSpPr>
        <p:spPr>
          <a:xfrm>
            <a:off x="1908809" y="1050273"/>
            <a:ext cx="5326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arenBoth"/>
            </a:pPr>
            <a:r>
              <a:rPr kumimoji="1" lang="ja-JP" altLang="en-US" sz="2000" dirty="0"/>
              <a:t>ラズパイ </a:t>
            </a:r>
            <a:r>
              <a:rPr kumimoji="1" lang="en-US" altLang="ja-JP" sz="2000" dirty="0"/>
              <a:t>Zero 2W</a:t>
            </a:r>
            <a:r>
              <a:rPr kumimoji="1" lang="ja-JP" altLang="en-US" sz="2000" dirty="0"/>
              <a:t> に、</a:t>
            </a:r>
          </a:p>
          <a:p>
            <a:r>
              <a:rPr kumimoji="1" lang="ja-JP" altLang="en-US" sz="2000" dirty="0"/>
              <a:t>　　　</a:t>
            </a:r>
            <a:r>
              <a:rPr kumimoji="1" lang="en-US" altLang="ja-JP" sz="2000" dirty="0"/>
              <a:t>image</a:t>
            </a:r>
            <a:r>
              <a:rPr kumimoji="1" lang="ja-JP" altLang="en-US" sz="2000" dirty="0"/>
              <a:t>を入れた</a:t>
            </a:r>
            <a:r>
              <a:rPr kumimoji="1" lang="en-US" altLang="ja-JP" sz="2000" dirty="0"/>
              <a:t>SD</a:t>
            </a:r>
            <a:r>
              <a:rPr kumimoji="1" lang="ja-JP" altLang="en-US" sz="2000" dirty="0"/>
              <a:t>カードを刺します。</a:t>
            </a: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4C03DDC2-217C-AB83-7B83-E43A3B6B0E6B}"/>
              </a:ext>
            </a:extLst>
          </p:cNvPr>
          <p:cNvCxnSpPr>
            <a:cxnSpLocks/>
          </p:cNvCxnSpPr>
          <p:nvPr/>
        </p:nvCxnSpPr>
        <p:spPr>
          <a:xfrm flipH="1">
            <a:off x="2078182" y="1758159"/>
            <a:ext cx="628073" cy="1428386"/>
          </a:xfrm>
          <a:prstGeom prst="straightConnector1">
            <a:avLst/>
          </a:prstGeom>
          <a:ln w="34925"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1A2FC-A294-BAE9-F1CD-79A7BBCA6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86A301-0D2D-2E38-E00A-120D99264F09}"/>
              </a:ext>
            </a:extLst>
          </p:cNvPr>
          <p:cNvSpPr txBox="1"/>
          <p:nvPr/>
        </p:nvSpPr>
        <p:spPr>
          <a:xfrm>
            <a:off x="2477516" y="150380"/>
            <a:ext cx="418896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ja-JP" altLang="en-US" sz="2800" dirty="0"/>
              <a:t>ラズベリーパイの組み立て</a:t>
            </a:r>
            <a:endParaRPr sz="2800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4B92F0E-39AD-1F29-C358-DB1878BF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0317F45-D85F-F4FD-F609-BDA3CFDFB227}"/>
              </a:ext>
            </a:extLst>
          </p:cNvPr>
          <p:cNvSpPr txBox="1"/>
          <p:nvPr/>
        </p:nvSpPr>
        <p:spPr>
          <a:xfrm>
            <a:off x="1163858" y="801147"/>
            <a:ext cx="75229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(2) </a:t>
            </a:r>
            <a:r>
              <a:rPr kumimoji="1" lang="ja-JP" altLang="en-US" sz="2000" dirty="0"/>
              <a:t>コネクタ部分が入るようにして、</a:t>
            </a:r>
          </a:p>
          <a:p>
            <a:r>
              <a:rPr kumimoji="1" lang="ja-JP" altLang="en-US" sz="2000" dirty="0"/>
              <a:t>　　　　　　　　　　　　　　　　　最後に</a:t>
            </a:r>
            <a:r>
              <a:rPr kumimoji="1" lang="en-US" altLang="ja-JP" sz="2000" dirty="0"/>
              <a:t>4</a:t>
            </a:r>
            <a:r>
              <a:rPr kumimoji="1" lang="ja-JP" altLang="en-US" sz="2000" dirty="0"/>
              <a:t>つのピンに嵌め込みます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2429A855-FE72-2F7B-F441-D940F5102AA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34597" y="1726076"/>
            <a:ext cx="2743311" cy="4705927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10761B3C-9E4B-44A9-630E-0F3A34FBEA1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60144" y="1724805"/>
            <a:ext cx="2449259" cy="4707198"/>
          </a:xfrm>
          <a:prstGeom prst="rect">
            <a:avLst/>
          </a:prstGeom>
        </p:spPr>
      </p:pic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01E59577-FB35-ACE0-3B49-7BB8ADCB27E0}"/>
              </a:ext>
            </a:extLst>
          </p:cNvPr>
          <p:cNvCxnSpPr>
            <a:cxnSpLocks/>
          </p:cNvCxnSpPr>
          <p:nvPr/>
        </p:nvCxnSpPr>
        <p:spPr>
          <a:xfrm flipH="1">
            <a:off x="2992582" y="1154545"/>
            <a:ext cx="240145" cy="570260"/>
          </a:xfrm>
          <a:prstGeom prst="straightConnector1">
            <a:avLst/>
          </a:prstGeom>
          <a:ln w="34925"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19ED9519-A3AE-A3A5-22FB-CC58AFB19C88}"/>
              </a:ext>
            </a:extLst>
          </p:cNvPr>
          <p:cNvCxnSpPr>
            <a:cxnSpLocks/>
          </p:cNvCxnSpPr>
          <p:nvPr/>
        </p:nvCxnSpPr>
        <p:spPr>
          <a:xfrm flipH="1">
            <a:off x="5847907" y="1509033"/>
            <a:ext cx="515948" cy="1010883"/>
          </a:xfrm>
          <a:prstGeom prst="straightConnector1">
            <a:avLst/>
          </a:prstGeom>
          <a:ln w="34925"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835C55D6-ACA7-852A-79D8-ABFB80A1288F}"/>
              </a:ext>
            </a:extLst>
          </p:cNvPr>
          <p:cNvCxnSpPr>
            <a:cxnSpLocks/>
          </p:cNvCxnSpPr>
          <p:nvPr/>
        </p:nvCxnSpPr>
        <p:spPr>
          <a:xfrm flipH="1">
            <a:off x="5888293" y="1509033"/>
            <a:ext cx="475562" cy="4005076"/>
          </a:xfrm>
          <a:prstGeom prst="straightConnector1">
            <a:avLst/>
          </a:prstGeom>
          <a:ln w="34925"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180ADB06-9FF3-9305-FFA8-B7C199DF573B}"/>
              </a:ext>
            </a:extLst>
          </p:cNvPr>
          <p:cNvCxnSpPr>
            <a:cxnSpLocks/>
          </p:cNvCxnSpPr>
          <p:nvPr/>
        </p:nvCxnSpPr>
        <p:spPr>
          <a:xfrm>
            <a:off x="6363855" y="1509033"/>
            <a:ext cx="738909" cy="4005076"/>
          </a:xfrm>
          <a:prstGeom prst="straightConnector1">
            <a:avLst/>
          </a:prstGeom>
          <a:ln w="34925"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3EFA43B2-1F9A-F541-9CD9-42E5D9720221}"/>
              </a:ext>
            </a:extLst>
          </p:cNvPr>
          <p:cNvCxnSpPr>
            <a:cxnSpLocks/>
          </p:cNvCxnSpPr>
          <p:nvPr/>
        </p:nvCxnSpPr>
        <p:spPr>
          <a:xfrm>
            <a:off x="6363855" y="1509033"/>
            <a:ext cx="674898" cy="966312"/>
          </a:xfrm>
          <a:prstGeom prst="straightConnector1">
            <a:avLst/>
          </a:prstGeom>
          <a:ln w="34925"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9166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4309E-C34E-452A-FB1D-51D0C2A9B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69CE5B-F042-7465-8580-748C2B43F94F}"/>
              </a:ext>
            </a:extLst>
          </p:cNvPr>
          <p:cNvSpPr txBox="1"/>
          <p:nvPr/>
        </p:nvSpPr>
        <p:spPr>
          <a:xfrm>
            <a:off x="2477516" y="150380"/>
            <a:ext cx="418896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ja-JP" altLang="en-US" sz="2800" dirty="0"/>
              <a:t>ラズベリーパイの組み立て</a:t>
            </a:r>
            <a:endParaRPr sz="2800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1B4130D-1854-9F62-F720-BE60EBAFA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7AAF6BA-E64D-5DAF-DE66-51BA3F92AC99}"/>
              </a:ext>
            </a:extLst>
          </p:cNvPr>
          <p:cNvSpPr txBox="1"/>
          <p:nvPr/>
        </p:nvSpPr>
        <p:spPr>
          <a:xfrm>
            <a:off x="1747174" y="1081797"/>
            <a:ext cx="5649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dirty="0"/>
              <a:t>(3) </a:t>
            </a:r>
            <a:r>
              <a:rPr kumimoji="1" lang="ja-JP" altLang="en-US" sz="2000" dirty="0"/>
              <a:t>ケースの裏にゴム足を貼りつけます</a:t>
            </a: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04FA50AE-1608-5D72-BF3A-2581F8DE6A3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3049171" y="582626"/>
            <a:ext cx="3045657" cy="5692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492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4D5BB-ECC1-4AA9-10CE-DDEDE1883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506A93C1-5C2A-9F5D-E902-38B370DEEC8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08230" y="2217851"/>
            <a:ext cx="6648536" cy="188983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8295FCD-7B06-5D65-1690-5883B43CB934}"/>
              </a:ext>
            </a:extLst>
          </p:cNvPr>
          <p:cNvSpPr txBox="1"/>
          <p:nvPr/>
        </p:nvSpPr>
        <p:spPr>
          <a:xfrm>
            <a:off x="3222912" y="150380"/>
            <a:ext cx="269817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ja-JP" altLang="en-US" sz="2800" dirty="0"/>
              <a:t>接続端子の説明</a:t>
            </a:r>
            <a:endParaRPr sz="2800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BE6790C-722A-B1F3-2E1D-CB4518A51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2226BB06-848D-1AAB-B72E-948A26A4135A}"/>
              </a:ext>
            </a:extLst>
          </p:cNvPr>
          <p:cNvCxnSpPr>
            <a:cxnSpLocks/>
          </p:cNvCxnSpPr>
          <p:nvPr/>
        </p:nvCxnSpPr>
        <p:spPr>
          <a:xfrm flipV="1">
            <a:off x="6251188" y="3322518"/>
            <a:ext cx="0" cy="1186500"/>
          </a:xfrm>
          <a:prstGeom prst="straightConnector1">
            <a:avLst/>
          </a:prstGeom>
          <a:ln>
            <a:solidFill>
              <a:srgbClr val="0099CC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893D5BF-AE2C-EF63-5603-EBC6DF8D6BCD}"/>
              </a:ext>
            </a:extLst>
          </p:cNvPr>
          <p:cNvSpPr txBox="1"/>
          <p:nvPr/>
        </p:nvSpPr>
        <p:spPr>
          <a:xfrm>
            <a:off x="5743412" y="4509018"/>
            <a:ext cx="24378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 dirty="0"/>
              <a:t>電源</a:t>
            </a:r>
            <a:r>
              <a:rPr kumimoji="1" lang="en-US" altLang="ja-JP" sz="2000" dirty="0"/>
              <a:t>(USB Micro-B)</a:t>
            </a:r>
            <a:endParaRPr kumimoji="1" lang="ja-JP" altLang="en-US" sz="2000" dirty="0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9F200891-77AA-A928-CD97-ECACBD12F0D3}"/>
              </a:ext>
            </a:extLst>
          </p:cNvPr>
          <p:cNvCxnSpPr>
            <a:cxnSpLocks/>
          </p:cNvCxnSpPr>
          <p:nvPr/>
        </p:nvCxnSpPr>
        <p:spPr>
          <a:xfrm flipV="1">
            <a:off x="2690432" y="3297409"/>
            <a:ext cx="43591" cy="1211609"/>
          </a:xfrm>
          <a:prstGeom prst="straightConnector1">
            <a:avLst/>
          </a:prstGeom>
          <a:ln>
            <a:solidFill>
              <a:srgbClr val="0099CC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F2B00E6-4B97-AAD7-90B4-7D98F410A650}"/>
              </a:ext>
            </a:extLst>
          </p:cNvPr>
          <p:cNvSpPr txBox="1"/>
          <p:nvPr/>
        </p:nvSpPr>
        <p:spPr>
          <a:xfrm>
            <a:off x="1971857" y="4509018"/>
            <a:ext cx="14807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dirty="0"/>
              <a:t>Mini HDMI</a:t>
            </a:r>
            <a:endParaRPr kumimoji="1" lang="ja-JP" altLang="en-US" sz="2000" dirty="0"/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935F44F4-E28A-4A52-B056-FAF957E4A343}"/>
              </a:ext>
            </a:extLst>
          </p:cNvPr>
          <p:cNvCxnSpPr>
            <a:cxnSpLocks/>
          </p:cNvCxnSpPr>
          <p:nvPr/>
        </p:nvCxnSpPr>
        <p:spPr>
          <a:xfrm flipV="1">
            <a:off x="5173622" y="3347817"/>
            <a:ext cx="0" cy="1161201"/>
          </a:xfrm>
          <a:prstGeom prst="straightConnector1">
            <a:avLst/>
          </a:prstGeom>
          <a:ln>
            <a:solidFill>
              <a:srgbClr val="0099CC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33AC0AF3-B709-2CF3-EEED-5186276A5DCA}"/>
              </a:ext>
            </a:extLst>
          </p:cNvPr>
          <p:cNvSpPr txBox="1"/>
          <p:nvPr/>
        </p:nvSpPr>
        <p:spPr>
          <a:xfrm>
            <a:off x="4603833" y="4509018"/>
            <a:ext cx="12314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dirty="0"/>
              <a:t>USB 2.0</a:t>
            </a:r>
            <a:endParaRPr kumimoji="1" lang="ja-JP" altLang="en-US" sz="20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382E4ED-8611-E8D9-F92F-D0EFFDD6F7A1}"/>
              </a:ext>
            </a:extLst>
          </p:cNvPr>
          <p:cNvSpPr txBox="1"/>
          <p:nvPr/>
        </p:nvSpPr>
        <p:spPr>
          <a:xfrm>
            <a:off x="925945" y="5147017"/>
            <a:ext cx="72921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ラズパイのシステムは</a:t>
            </a:r>
            <a:r>
              <a:rPr kumimoji="1" lang="en-US" altLang="ja-JP" sz="2400" dirty="0"/>
              <a:t>SD</a:t>
            </a:r>
            <a:r>
              <a:rPr kumimoji="1" lang="ja-JP" altLang="en-US" sz="2400" dirty="0"/>
              <a:t>カードに入っています。</a:t>
            </a:r>
          </a:p>
          <a:p>
            <a:r>
              <a:rPr kumimoji="1" lang="en-US" altLang="ja-JP" sz="2400" dirty="0" err="1"/>
              <a:t>WindowsPC</a:t>
            </a:r>
            <a:r>
              <a:rPr kumimoji="1" lang="ja-JP" altLang="en-US" sz="2400" dirty="0"/>
              <a:t>の</a:t>
            </a:r>
            <a:r>
              <a:rPr kumimoji="1" lang="en-US" altLang="ja-JP" sz="2400" dirty="0"/>
              <a:t>SSD</a:t>
            </a:r>
            <a:r>
              <a:rPr kumimoji="1" lang="ja-JP" altLang="en-US" sz="2400" dirty="0"/>
              <a:t>や</a:t>
            </a:r>
            <a:r>
              <a:rPr kumimoji="1" lang="en-US" altLang="ja-JP" sz="2400" dirty="0"/>
              <a:t>HDD</a:t>
            </a:r>
            <a:r>
              <a:rPr kumimoji="1" lang="ja-JP" altLang="en-US" sz="2400" dirty="0"/>
              <a:t>に当たります。</a:t>
            </a:r>
          </a:p>
          <a:p>
            <a:r>
              <a:rPr kumimoji="1" lang="ja-JP" altLang="en-US" sz="2400" b="1" dirty="0">
                <a:solidFill>
                  <a:srgbClr val="E64555"/>
                </a:solidFill>
              </a:rPr>
              <a:t>ただし、</a:t>
            </a:r>
            <a:r>
              <a:rPr kumimoji="1" lang="en-US" altLang="ja-JP" sz="2400" b="1" dirty="0">
                <a:solidFill>
                  <a:srgbClr val="E64555"/>
                </a:solidFill>
              </a:rPr>
              <a:t>SD</a:t>
            </a:r>
            <a:r>
              <a:rPr kumimoji="1" lang="ja-JP" altLang="en-US" sz="2400" b="1" dirty="0">
                <a:solidFill>
                  <a:srgbClr val="E64555"/>
                </a:solidFill>
              </a:rPr>
              <a:t>カードは壊れやすいので、注意が必要です。</a:t>
            </a:r>
            <a:endParaRPr kumimoji="1" lang="en-US" altLang="ja-JP" sz="2400" b="1" dirty="0">
              <a:solidFill>
                <a:srgbClr val="E64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7917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72D15-87A1-B08F-A8BC-3EACD1ECE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9F7E0F-61D0-568E-0AB4-09E28A83C79A}"/>
              </a:ext>
            </a:extLst>
          </p:cNvPr>
          <p:cNvSpPr txBox="1"/>
          <p:nvPr/>
        </p:nvSpPr>
        <p:spPr>
          <a:xfrm>
            <a:off x="2139283" y="226367"/>
            <a:ext cx="486543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ja-JP" altLang="en-US" sz="2400" dirty="0"/>
              <a:t>ラズパイ</a:t>
            </a:r>
            <a:r>
              <a:rPr lang="en-US" altLang="ja-JP" sz="2400" dirty="0"/>
              <a:t>Zero2W</a:t>
            </a:r>
            <a:r>
              <a:rPr lang="ja-JP" altLang="en-US" sz="2400" dirty="0"/>
              <a:t>に電源をつなぎます</a:t>
            </a:r>
            <a:endParaRPr sz="2400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0BEF690-9CFC-F928-3850-91587F7B0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87161B2-07D1-6BAF-4476-06BFABCB99A2}"/>
              </a:ext>
            </a:extLst>
          </p:cNvPr>
          <p:cNvSpPr txBox="1"/>
          <p:nvPr/>
        </p:nvSpPr>
        <p:spPr>
          <a:xfrm>
            <a:off x="1870566" y="1087892"/>
            <a:ext cx="68162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・電源を刺します。初めて電源を入れる場合は、</a:t>
            </a:r>
          </a:p>
          <a:p>
            <a:r>
              <a:rPr kumimoji="1" lang="ja-JP" altLang="en-US" sz="2000" dirty="0"/>
              <a:t>　システムが起動するのに、</a:t>
            </a:r>
            <a:r>
              <a:rPr kumimoji="1" lang="en-US" altLang="ja-JP" sz="2000" b="1" dirty="0">
                <a:solidFill>
                  <a:srgbClr val="E64555"/>
                </a:solidFill>
              </a:rPr>
              <a:t>5</a:t>
            </a:r>
            <a:r>
              <a:rPr kumimoji="1" lang="ja-JP" altLang="en-US" sz="2000" b="1" dirty="0">
                <a:solidFill>
                  <a:srgbClr val="E64555"/>
                </a:solidFill>
              </a:rPr>
              <a:t>分くらいかかります。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44F0EE9-5338-90FA-A2C7-DC4D6342DB77}"/>
              </a:ext>
            </a:extLst>
          </p:cNvPr>
          <p:cNvSpPr txBox="1"/>
          <p:nvPr/>
        </p:nvSpPr>
        <p:spPr>
          <a:xfrm>
            <a:off x="925945" y="5266571"/>
            <a:ext cx="72921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b="1" dirty="0">
                <a:solidFill>
                  <a:srgbClr val="E64555"/>
                </a:solidFill>
              </a:rPr>
              <a:t>電源を入れたら、決して抜かないこと！</a:t>
            </a:r>
          </a:p>
          <a:p>
            <a:pPr algn="ctr"/>
            <a:r>
              <a:rPr kumimoji="1" lang="ja-JP" altLang="en-US" sz="2400" b="1" dirty="0">
                <a:solidFill>
                  <a:srgbClr val="E64555"/>
                </a:solidFill>
              </a:rPr>
              <a:t>勝手に抜くと、</a:t>
            </a:r>
            <a:r>
              <a:rPr kumimoji="1" lang="en-US" altLang="ja-JP" sz="2400" b="1" dirty="0">
                <a:solidFill>
                  <a:srgbClr val="E64555"/>
                </a:solidFill>
              </a:rPr>
              <a:t>SD</a:t>
            </a:r>
            <a:r>
              <a:rPr kumimoji="1" lang="ja-JP" altLang="en-US" sz="2400" b="1" dirty="0">
                <a:solidFill>
                  <a:srgbClr val="E64555"/>
                </a:solidFill>
              </a:rPr>
              <a:t>カードが壊れます</a:t>
            </a:r>
            <a:endParaRPr kumimoji="1" lang="en-US" altLang="ja-JP" sz="2400" b="1" dirty="0">
              <a:solidFill>
                <a:srgbClr val="E64555"/>
              </a:solidFill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2D3777EE-A27B-B72D-3162-6CB6C00D58B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28901" y="1887862"/>
            <a:ext cx="5086197" cy="3082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716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C2928-2D38-2FC2-341E-1F886B6DD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CA5037B-F284-7C60-D950-30D01407D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D23EBDB-2464-215E-DC69-2706140E7129}"/>
              </a:ext>
            </a:extLst>
          </p:cNvPr>
          <p:cNvSpPr txBox="1"/>
          <p:nvPr/>
        </p:nvSpPr>
        <p:spPr>
          <a:xfrm>
            <a:off x="868055" y="2262893"/>
            <a:ext cx="740789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400" dirty="0"/>
              <a:t>ラズパイを接続する</a:t>
            </a:r>
            <a:endParaRPr kumimoji="1" lang="en-US" altLang="ja-JP" sz="4400" dirty="0"/>
          </a:p>
          <a:p>
            <a:pPr algn="ctr"/>
            <a:r>
              <a:rPr kumimoji="1" lang="ja-JP" altLang="en-US" sz="4400" dirty="0"/>
              <a:t>モバイルホットスポットの設定</a:t>
            </a:r>
          </a:p>
        </p:txBody>
      </p:sp>
    </p:spTree>
    <p:extLst>
      <p:ext uri="{BB962C8B-B14F-4D97-AF65-F5344CB8AC3E}">
        <p14:creationId xmlns:p14="http://schemas.microsoft.com/office/powerpoint/2010/main" val="150500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92C83-7838-F010-75F1-FAA1F28C7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図 19">
            <a:extLst>
              <a:ext uri="{FF2B5EF4-FFF2-40B4-BE49-F238E27FC236}">
                <a16:creationId xmlns:a16="http://schemas.microsoft.com/office/drawing/2014/main" id="{42EEF99E-09B6-A07F-3162-FBF17C918AB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6938" y="3011523"/>
            <a:ext cx="6012982" cy="3527389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B7A5412C-57E4-BB6D-95D1-E3B647FC927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6938" y="885758"/>
            <a:ext cx="3962953" cy="1951128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34E9513-FA80-9C56-FEDE-D99D2CB4B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E79B6A8-2013-C317-FB5D-AD99FA71ED18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Windows11</a:t>
            </a:r>
            <a:r>
              <a:rPr kumimoji="1" lang="ja-JP" altLang="en-US" sz="2400" dirty="0"/>
              <a:t>のモバイルホットスポットを開きます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B72D6B95-1029-716E-6FEF-D104333319F7}"/>
              </a:ext>
            </a:extLst>
          </p:cNvPr>
          <p:cNvSpPr/>
          <p:nvPr/>
        </p:nvSpPr>
        <p:spPr>
          <a:xfrm>
            <a:off x="1479684" y="1901039"/>
            <a:ext cx="2459260" cy="390397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2A9F02D3-5E15-8C16-0982-E2D6E5CA8934}"/>
              </a:ext>
            </a:extLst>
          </p:cNvPr>
          <p:cNvCxnSpPr>
            <a:cxnSpLocks/>
          </p:cNvCxnSpPr>
          <p:nvPr/>
        </p:nvCxnSpPr>
        <p:spPr>
          <a:xfrm flipH="1">
            <a:off x="3966652" y="1874473"/>
            <a:ext cx="489528" cy="203292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AB0949D2-568B-17DF-0875-631AA3035DCB}"/>
              </a:ext>
            </a:extLst>
          </p:cNvPr>
          <p:cNvSpPr/>
          <p:nvPr/>
        </p:nvSpPr>
        <p:spPr>
          <a:xfrm>
            <a:off x="2574195" y="2417197"/>
            <a:ext cx="311806" cy="390397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BAC4BF2-0615-73F0-7BF4-00276CFF8B43}"/>
              </a:ext>
            </a:extLst>
          </p:cNvPr>
          <p:cNvSpPr txBox="1"/>
          <p:nvPr/>
        </p:nvSpPr>
        <p:spPr>
          <a:xfrm>
            <a:off x="4428472" y="1385113"/>
            <a:ext cx="4424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インターネット接続アイコンを右クリックして、「ネットワーク設定とインターネット設定」を選びます</a:t>
            </a: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D602D162-B329-A8F7-9D82-B93F8FCD67C2}"/>
              </a:ext>
            </a:extLst>
          </p:cNvPr>
          <p:cNvSpPr/>
          <p:nvPr/>
        </p:nvSpPr>
        <p:spPr>
          <a:xfrm>
            <a:off x="270837" y="4260930"/>
            <a:ext cx="5806689" cy="523506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F60E381-C745-B2ED-107D-91B7647BA53C}"/>
              </a:ext>
            </a:extLst>
          </p:cNvPr>
          <p:cNvSpPr txBox="1"/>
          <p:nvPr/>
        </p:nvSpPr>
        <p:spPr>
          <a:xfrm>
            <a:off x="6283819" y="4198651"/>
            <a:ext cx="26412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モバイルホットスポットを開きます</a:t>
            </a:r>
          </a:p>
        </p:txBody>
      </p:sp>
    </p:spTree>
    <p:extLst>
      <p:ext uri="{BB962C8B-B14F-4D97-AF65-F5344CB8AC3E}">
        <p14:creationId xmlns:p14="http://schemas.microsoft.com/office/powerpoint/2010/main" val="3517496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93004-F3BE-35DA-7049-0FB1ED9E3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CFDBC66B-E0C7-95F6-7916-8E5C50AD217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6963" y="1954310"/>
            <a:ext cx="7070073" cy="4613239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54A71E2-4199-73F0-2BB4-79890977B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A480B4C-85D3-DB61-6C9A-7EF5389215C8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Windows11</a:t>
            </a:r>
            <a:r>
              <a:rPr kumimoji="1" lang="ja-JP" altLang="en-US" sz="2400" dirty="0"/>
              <a:t>のモバイルホットスポットを開きます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675A579A-8A42-0767-E547-959BC28F899D}"/>
              </a:ext>
            </a:extLst>
          </p:cNvPr>
          <p:cNvSpPr/>
          <p:nvPr/>
        </p:nvSpPr>
        <p:spPr>
          <a:xfrm>
            <a:off x="6797966" y="4320967"/>
            <a:ext cx="929448" cy="390397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E9E6ED56-FAB4-CB3E-999F-1E9FA7354CC7}"/>
              </a:ext>
            </a:extLst>
          </p:cNvPr>
          <p:cNvCxnSpPr>
            <a:cxnSpLocks/>
          </p:cNvCxnSpPr>
          <p:nvPr/>
        </p:nvCxnSpPr>
        <p:spPr>
          <a:xfrm>
            <a:off x="5153891" y="1581930"/>
            <a:ext cx="1948873" cy="2611379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864553D5-C4CE-AC24-889F-8E8DA7B00915}"/>
              </a:ext>
            </a:extLst>
          </p:cNvPr>
          <p:cNvSpPr txBox="1"/>
          <p:nvPr/>
        </p:nvSpPr>
        <p:spPr>
          <a:xfrm>
            <a:off x="1036963" y="1181820"/>
            <a:ext cx="7958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編集を押して、</a:t>
            </a:r>
            <a:r>
              <a:rPr kumimoji="1" lang="en-US" altLang="ja-JP" sz="2000" dirty="0"/>
              <a:t>Imager</a:t>
            </a:r>
            <a:r>
              <a:rPr kumimoji="1" lang="ja-JP" altLang="en-US" sz="2000" dirty="0"/>
              <a:t>でセットした</a:t>
            </a:r>
            <a:r>
              <a:rPr kumimoji="1" lang="en-US" altLang="ja-JP" sz="2000" dirty="0"/>
              <a:t>SSID</a:t>
            </a:r>
            <a:r>
              <a:rPr kumimoji="1" lang="ja-JP" altLang="en-US" sz="2000" dirty="0"/>
              <a:t>とパスワードをセットします。</a:t>
            </a:r>
          </a:p>
        </p:txBody>
      </p:sp>
    </p:spTree>
    <p:extLst>
      <p:ext uri="{BB962C8B-B14F-4D97-AF65-F5344CB8AC3E}">
        <p14:creationId xmlns:p14="http://schemas.microsoft.com/office/powerpoint/2010/main" val="937896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FB487-99F1-80F8-829B-7CB54F4B3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0FD4EC2C-97CE-D6AF-D7A5-558CB1E97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08" y="1717287"/>
            <a:ext cx="4572638" cy="3829584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C6CFF54-7DFA-6ECA-EE9C-C4D9DBBAE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BCB66C0-260C-9515-A2FB-BBCDE7EC937B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モバイルホットスポットにラズパイを接続させます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C56951CF-B201-E38E-B1B7-1B645E8AFFD9}"/>
              </a:ext>
            </a:extLst>
          </p:cNvPr>
          <p:cNvSpPr/>
          <p:nvPr/>
        </p:nvSpPr>
        <p:spPr>
          <a:xfrm>
            <a:off x="969819" y="2787731"/>
            <a:ext cx="1237671" cy="712851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D931A04A-9071-1041-8A6C-E2059F02D730}"/>
              </a:ext>
            </a:extLst>
          </p:cNvPr>
          <p:cNvCxnSpPr>
            <a:cxnSpLocks/>
          </p:cNvCxnSpPr>
          <p:nvPr/>
        </p:nvCxnSpPr>
        <p:spPr>
          <a:xfrm flipH="1">
            <a:off x="2280419" y="3144156"/>
            <a:ext cx="3262038" cy="0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E29A7E6-9A89-0D11-0D2B-598F74D18782}"/>
              </a:ext>
            </a:extLst>
          </p:cNvPr>
          <p:cNvSpPr txBox="1"/>
          <p:nvPr/>
        </p:nvSpPr>
        <p:spPr>
          <a:xfrm>
            <a:off x="1036963" y="1181820"/>
            <a:ext cx="7958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編集を押して、</a:t>
            </a:r>
            <a:r>
              <a:rPr kumimoji="1" lang="en-US" altLang="ja-JP" sz="2000" dirty="0"/>
              <a:t>Imager</a:t>
            </a:r>
            <a:r>
              <a:rPr kumimoji="1" lang="ja-JP" altLang="en-US" sz="2000" dirty="0"/>
              <a:t>でセットした</a:t>
            </a:r>
            <a:r>
              <a:rPr kumimoji="1" lang="en-US" altLang="ja-JP" sz="2000" dirty="0"/>
              <a:t>SSID</a:t>
            </a:r>
            <a:r>
              <a:rPr kumimoji="1" lang="ja-JP" altLang="en-US" sz="2000" dirty="0"/>
              <a:t>とパスワードをセットします。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65832E51-9DA9-1056-8411-6930F46DD13F}"/>
              </a:ext>
            </a:extLst>
          </p:cNvPr>
          <p:cNvSpPr/>
          <p:nvPr/>
        </p:nvSpPr>
        <p:spPr>
          <a:xfrm>
            <a:off x="969819" y="3636698"/>
            <a:ext cx="2133599" cy="712851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2F7EDC3-D7BE-7614-D3D8-EB3DB6BA0610}"/>
              </a:ext>
            </a:extLst>
          </p:cNvPr>
          <p:cNvSpPr txBox="1"/>
          <p:nvPr/>
        </p:nvSpPr>
        <p:spPr>
          <a:xfrm>
            <a:off x="5615386" y="2970359"/>
            <a:ext cx="35286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SSID: pi</a:t>
            </a:r>
          </a:p>
          <a:p>
            <a:endParaRPr kumimoji="1" lang="en-US" altLang="ja-JP" sz="2000" dirty="0"/>
          </a:p>
          <a:p>
            <a:endParaRPr kumimoji="1" lang="en-US" altLang="ja-JP" sz="2000" dirty="0"/>
          </a:p>
          <a:p>
            <a:r>
              <a:rPr kumimoji="1" lang="ja-JP" altLang="en-US" sz="2000" dirty="0"/>
              <a:t>パスワード</a:t>
            </a:r>
            <a:r>
              <a:rPr kumimoji="1" lang="en-US" altLang="ja-JP" sz="2000" dirty="0"/>
              <a:t>: raspberry</a:t>
            </a:r>
            <a:endParaRPr kumimoji="1" lang="ja-JP" altLang="en-US" sz="2000" dirty="0"/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5178A21A-A416-B3D9-4FA7-5BF3CD11B6B2}"/>
              </a:ext>
            </a:extLst>
          </p:cNvPr>
          <p:cNvCxnSpPr>
            <a:cxnSpLocks/>
          </p:cNvCxnSpPr>
          <p:nvPr/>
        </p:nvCxnSpPr>
        <p:spPr>
          <a:xfrm flipH="1" flipV="1">
            <a:off x="3168073" y="3943927"/>
            <a:ext cx="2447313" cy="157018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6930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217EA-0BE9-96B2-C2C2-4519712BC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CCBE61E5-38B5-EA91-13FB-4B4A92BF7B9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208" y="962602"/>
            <a:ext cx="3614230" cy="5758873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6484E94-3408-AA11-5BD5-9FD3A13D5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78628644-5B5A-89BE-C51C-802F368B8B4F}"/>
              </a:ext>
            </a:extLst>
          </p:cNvPr>
          <p:cNvSpPr/>
          <p:nvPr/>
        </p:nvSpPr>
        <p:spPr>
          <a:xfrm>
            <a:off x="3103418" y="1674996"/>
            <a:ext cx="674255" cy="214710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90C1650E-E3E4-FA79-D2C2-5AE5B96162D6}"/>
              </a:ext>
            </a:extLst>
          </p:cNvPr>
          <p:cNvCxnSpPr>
            <a:cxnSpLocks/>
          </p:cNvCxnSpPr>
          <p:nvPr/>
        </p:nvCxnSpPr>
        <p:spPr>
          <a:xfrm flipH="1" flipV="1">
            <a:off x="3694545" y="1976582"/>
            <a:ext cx="613818" cy="560257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587CF81-938B-66C8-0A46-AB32BCAAD85E}"/>
              </a:ext>
            </a:extLst>
          </p:cNvPr>
          <p:cNvSpPr txBox="1"/>
          <p:nvPr/>
        </p:nvSpPr>
        <p:spPr>
          <a:xfrm>
            <a:off x="4064301" y="2623715"/>
            <a:ext cx="49777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「オン」にすると、ラズパイが自動的に接続します。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5AA37C88-0B60-E1BA-6FFA-F1FF6A4FB43F}"/>
              </a:ext>
            </a:extLst>
          </p:cNvPr>
          <p:cNvSpPr/>
          <p:nvPr/>
        </p:nvSpPr>
        <p:spPr>
          <a:xfrm>
            <a:off x="683492" y="5661193"/>
            <a:ext cx="2826326" cy="785789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E86B32D3-A982-FF94-6D79-99E12754CA1A}"/>
              </a:ext>
            </a:extLst>
          </p:cNvPr>
          <p:cNvCxnSpPr>
            <a:cxnSpLocks/>
          </p:cNvCxnSpPr>
          <p:nvPr/>
        </p:nvCxnSpPr>
        <p:spPr>
          <a:xfrm flipH="1">
            <a:off x="3362036" y="3038764"/>
            <a:ext cx="2632364" cy="2622429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F71765F-798E-2D11-CD13-67DECB81E036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モバイルホットスポットにラズパイを接続させます</a:t>
            </a:r>
          </a:p>
        </p:txBody>
      </p:sp>
    </p:spTree>
    <p:extLst>
      <p:ext uri="{BB962C8B-B14F-4D97-AF65-F5344CB8AC3E}">
        <p14:creationId xmlns:p14="http://schemas.microsoft.com/office/powerpoint/2010/main" val="1914607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5F2C0-0459-2B67-1E0F-B026AED94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89E89FF-066D-A069-5BB3-CB80B8C78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2DFBCB9-0E85-FED7-D2D3-5A948778F90C}"/>
              </a:ext>
            </a:extLst>
          </p:cNvPr>
          <p:cNvSpPr txBox="1"/>
          <p:nvPr/>
        </p:nvSpPr>
        <p:spPr>
          <a:xfrm>
            <a:off x="868055" y="2262893"/>
            <a:ext cx="74078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400" dirty="0"/>
              <a:t>ラズパイにログインします</a:t>
            </a:r>
          </a:p>
        </p:txBody>
      </p:sp>
    </p:spTree>
    <p:extLst>
      <p:ext uri="{BB962C8B-B14F-4D97-AF65-F5344CB8AC3E}">
        <p14:creationId xmlns:p14="http://schemas.microsoft.com/office/powerpoint/2010/main" val="4899307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59DFF-0268-4214-A706-0B2920785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D1E5F816-DE44-FFC4-86AA-33E101E6600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374" y="924818"/>
            <a:ext cx="3470561" cy="5690105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476D0F0-505F-86D0-91F2-B5AE047FF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49A02E4-9141-DC89-CCE7-CEA73EB112F2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ラズパイに接続します。</a:t>
            </a: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4CED6CA0-DB44-4326-162A-CE3F6A54F7BB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2885608" y="2977658"/>
            <a:ext cx="1538609" cy="792212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BC1C1E6-1E66-1D25-A7E6-04D6135BB2A8}"/>
              </a:ext>
            </a:extLst>
          </p:cNvPr>
          <p:cNvSpPr txBox="1"/>
          <p:nvPr/>
        </p:nvSpPr>
        <p:spPr>
          <a:xfrm>
            <a:off x="4424217" y="2623715"/>
            <a:ext cx="4617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右クリックスタートメニュから「ターミナル」を選びます。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81862B42-ABBE-6E52-39C0-A6A1CC9C1327}"/>
              </a:ext>
            </a:extLst>
          </p:cNvPr>
          <p:cNvSpPr/>
          <p:nvPr/>
        </p:nvSpPr>
        <p:spPr>
          <a:xfrm>
            <a:off x="640771" y="3769870"/>
            <a:ext cx="2244837" cy="220239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9006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F66B3-9C19-70C7-D3BA-E7036E7F3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図 16">
            <a:extLst>
              <a:ext uri="{FF2B5EF4-FFF2-40B4-BE49-F238E27FC236}">
                <a16:creationId xmlns:a16="http://schemas.microsoft.com/office/drawing/2014/main" id="{AC09F28C-4044-D17A-0016-60C678CE008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218" y="2059831"/>
            <a:ext cx="7952509" cy="4479082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6B3E9279-FE5B-733B-E39E-CAF3872883D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32219" y="376781"/>
            <a:ext cx="3870036" cy="1117405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C401BCA-48AC-7383-9C46-B96A9BD3B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E8BA6BB-8DA9-2C18-06CC-6EA37353E3DE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ラズパイに接続します。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0D39D7F-8BF1-CADC-C6AD-4592133A8393}"/>
              </a:ext>
            </a:extLst>
          </p:cNvPr>
          <p:cNvSpPr txBox="1"/>
          <p:nvPr/>
        </p:nvSpPr>
        <p:spPr>
          <a:xfrm>
            <a:off x="216938" y="786300"/>
            <a:ext cx="82665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ssh pi@</a:t>
            </a:r>
            <a:r>
              <a:rPr kumimoji="1" lang="en-US" altLang="ja-JP" sz="2000" u="sng" dirty="0"/>
              <a:t>raspizero2w</a:t>
            </a:r>
            <a:r>
              <a:rPr kumimoji="1" lang="en-US" altLang="ja-JP" sz="2000" dirty="0"/>
              <a:t> </a:t>
            </a:r>
            <a:r>
              <a:rPr kumimoji="1" lang="ja-JP" altLang="en-US" sz="2000" dirty="0"/>
              <a:t>と入力します。または、</a:t>
            </a:r>
          </a:p>
          <a:p>
            <a:r>
              <a:rPr kumimoji="1" lang="en-US" altLang="ja-JP" sz="2000" dirty="0"/>
              <a:t>ssh</a:t>
            </a:r>
            <a:r>
              <a:rPr kumimoji="1" lang="ja-JP" altLang="en-US" sz="2000" dirty="0"/>
              <a:t> </a:t>
            </a:r>
            <a:r>
              <a:rPr kumimoji="1" lang="en-US" altLang="ja-JP" sz="2000" dirty="0"/>
              <a:t>pi@</a:t>
            </a:r>
            <a:r>
              <a:rPr kumimoji="1" lang="en-US" altLang="ja-JP" sz="2000" u="sng" dirty="0"/>
              <a:t>192.168.137.15</a:t>
            </a:r>
            <a:r>
              <a:rPr kumimoji="1" lang="ja-JP" altLang="en-US" sz="2000" dirty="0"/>
              <a:t> と入力します。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CAFE909-4671-7FCD-836F-B9661B1F18F2}"/>
              </a:ext>
            </a:extLst>
          </p:cNvPr>
          <p:cNvSpPr/>
          <p:nvPr/>
        </p:nvSpPr>
        <p:spPr>
          <a:xfrm>
            <a:off x="6238646" y="1125071"/>
            <a:ext cx="1011899" cy="220100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4663D257-8956-7233-00F9-C82A7DBADD7A}"/>
              </a:ext>
            </a:extLst>
          </p:cNvPr>
          <p:cNvSpPr/>
          <p:nvPr/>
        </p:nvSpPr>
        <p:spPr>
          <a:xfrm>
            <a:off x="4932219" y="1124931"/>
            <a:ext cx="849745" cy="220239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6F6721E5-4F28-C4C6-8139-E4833B840209}"/>
              </a:ext>
            </a:extLst>
          </p:cNvPr>
          <p:cNvSpPr/>
          <p:nvPr/>
        </p:nvSpPr>
        <p:spPr>
          <a:xfrm>
            <a:off x="1537856" y="3032835"/>
            <a:ext cx="1639453" cy="220239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08038052-2212-5AD6-AC9D-824790BB8CE2}"/>
              </a:ext>
            </a:extLst>
          </p:cNvPr>
          <p:cNvCxnSpPr>
            <a:cxnSpLocks/>
          </p:cNvCxnSpPr>
          <p:nvPr/>
        </p:nvCxnSpPr>
        <p:spPr>
          <a:xfrm>
            <a:off x="2576945" y="1494186"/>
            <a:ext cx="0" cy="1538649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AF47C3B6-E843-A778-3D32-B192671C13DA}"/>
              </a:ext>
            </a:extLst>
          </p:cNvPr>
          <p:cNvSpPr txBox="1"/>
          <p:nvPr/>
        </p:nvSpPr>
        <p:spPr>
          <a:xfrm>
            <a:off x="6238646" y="1575744"/>
            <a:ext cx="23461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yes</a:t>
            </a:r>
            <a:r>
              <a:rPr kumimoji="1" lang="ja-JP" altLang="en-US" sz="2000" dirty="0"/>
              <a:t> と入力します。</a:t>
            </a: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5A61AC09-C1F1-494F-AFEE-ECE346C83B04}"/>
              </a:ext>
            </a:extLst>
          </p:cNvPr>
          <p:cNvSpPr/>
          <p:nvPr/>
        </p:nvSpPr>
        <p:spPr>
          <a:xfrm>
            <a:off x="4849092" y="3685310"/>
            <a:ext cx="350982" cy="301278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D8E7CBEE-A9A5-82A5-739E-9644E9BA407E}"/>
              </a:ext>
            </a:extLst>
          </p:cNvPr>
          <p:cNvCxnSpPr>
            <a:cxnSpLocks/>
          </p:cNvCxnSpPr>
          <p:nvPr/>
        </p:nvCxnSpPr>
        <p:spPr>
          <a:xfrm flipH="1">
            <a:off x="5200074" y="1975854"/>
            <a:ext cx="1265381" cy="1709456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44269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AC9A6-FC3B-FC24-8685-D782C0D63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E65E3263-81DE-CC64-6B1E-1CA61629121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218" y="2053055"/>
            <a:ext cx="7964539" cy="4485857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B8BE197-74F5-46C5-3D81-9EA8EBD02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7C1851C-439A-9AC0-A3B7-6B72C4EFD4E4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ラズパイに接続します。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EB65CC76-236C-B19D-89B1-9E57EA098214}"/>
              </a:ext>
            </a:extLst>
          </p:cNvPr>
          <p:cNvSpPr txBox="1"/>
          <p:nvPr/>
        </p:nvSpPr>
        <p:spPr>
          <a:xfrm>
            <a:off x="216938" y="786300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パスワードを聞かれるので、</a:t>
            </a:r>
            <a:r>
              <a:rPr kumimoji="1" lang="en-US" altLang="ja-JP" sz="2000" dirty="0"/>
              <a:t>raspberry </a:t>
            </a:r>
            <a:r>
              <a:rPr kumimoji="1" lang="ja-JP" altLang="en-US" sz="2000" dirty="0"/>
              <a:t>と入力します。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7717C389-B333-30D4-1EFA-CF41A4AB8E90}"/>
              </a:ext>
            </a:extLst>
          </p:cNvPr>
          <p:cNvSpPr/>
          <p:nvPr/>
        </p:nvSpPr>
        <p:spPr>
          <a:xfrm>
            <a:off x="320967" y="3181053"/>
            <a:ext cx="3142661" cy="220239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390C8C03-2AC8-4E68-EACC-B60C72CB7827}"/>
              </a:ext>
            </a:extLst>
          </p:cNvPr>
          <p:cNvCxnSpPr>
            <a:cxnSpLocks/>
          </p:cNvCxnSpPr>
          <p:nvPr/>
        </p:nvCxnSpPr>
        <p:spPr>
          <a:xfrm flipH="1">
            <a:off x="2812879" y="1186410"/>
            <a:ext cx="909376" cy="1917008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A5ADAEE-9804-0B9B-67BE-51BE5F111E65}"/>
              </a:ext>
            </a:extLst>
          </p:cNvPr>
          <p:cNvSpPr txBox="1"/>
          <p:nvPr/>
        </p:nvSpPr>
        <p:spPr>
          <a:xfrm>
            <a:off x="3551265" y="1412050"/>
            <a:ext cx="4604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rgbClr val="FF0000"/>
                </a:solidFill>
              </a:rPr>
              <a:t>パスワードは、表示されません。</a:t>
            </a:r>
          </a:p>
        </p:txBody>
      </p:sp>
    </p:spTree>
    <p:extLst>
      <p:ext uri="{BB962C8B-B14F-4D97-AF65-F5344CB8AC3E}">
        <p14:creationId xmlns:p14="http://schemas.microsoft.com/office/powerpoint/2010/main" val="33564274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FD42D-1D2B-FAE7-E2F1-D355BC9A1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F598172-88F2-BACA-0731-7D4F4A034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4696CBC-0560-0069-C2BE-24157CE4D163}"/>
              </a:ext>
            </a:extLst>
          </p:cNvPr>
          <p:cNvSpPr txBox="1"/>
          <p:nvPr/>
        </p:nvSpPr>
        <p:spPr>
          <a:xfrm>
            <a:off x="868055" y="2262893"/>
            <a:ext cx="74078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400" dirty="0"/>
              <a:t>ラズパイを最新にアップデート</a:t>
            </a:r>
          </a:p>
        </p:txBody>
      </p:sp>
    </p:spTree>
    <p:extLst>
      <p:ext uri="{BB962C8B-B14F-4D97-AF65-F5344CB8AC3E}">
        <p14:creationId xmlns:p14="http://schemas.microsoft.com/office/powerpoint/2010/main" val="26638547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049AE-6386-08EC-24FB-000F2AE36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FC821422-86DE-A074-1E21-06E2938C71D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755" y="2053054"/>
            <a:ext cx="7968002" cy="4487807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396B9CC-9834-EB93-CBE2-F0298151A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29ECCCD-B7FA-8B21-9838-0F427DA96E82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ラズパイを最新にアップテート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FC67E71A-57CD-7ACB-3928-FE6F1D84081E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以下のコマンドを入力します。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E952D333-29B4-A446-0553-7F492BFE0E25}"/>
              </a:ext>
            </a:extLst>
          </p:cNvPr>
          <p:cNvSpPr/>
          <p:nvPr/>
        </p:nvSpPr>
        <p:spPr>
          <a:xfrm>
            <a:off x="1567876" y="4540272"/>
            <a:ext cx="3142661" cy="220239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BA44D742-E30F-3354-3511-BFBB121E7936}"/>
              </a:ext>
            </a:extLst>
          </p:cNvPr>
          <p:cNvCxnSpPr>
            <a:cxnSpLocks/>
          </p:cNvCxnSpPr>
          <p:nvPr/>
        </p:nvCxnSpPr>
        <p:spPr>
          <a:xfrm>
            <a:off x="2438400" y="1451142"/>
            <a:ext cx="0" cy="3089130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0E93B9D-7E64-57AA-68BE-D7DBBB02A15C}"/>
              </a:ext>
            </a:extLst>
          </p:cNvPr>
          <p:cNvSpPr txBox="1"/>
          <p:nvPr/>
        </p:nvSpPr>
        <p:spPr>
          <a:xfrm>
            <a:off x="356755" y="105103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err="1"/>
              <a:t>sudo</a:t>
            </a:r>
            <a:r>
              <a:rPr kumimoji="1" lang="en-US" altLang="ja-JP" sz="2000" dirty="0"/>
              <a:t> apt-get </a:t>
            </a:r>
            <a:r>
              <a:rPr kumimoji="1" lang="en-US" altLang="ja-JP" sz="2000" dirty="0" err="1"/>
              <a:t>update;sudo</a:t>
            </a:r>
            <a:r>
              <a:rPr kumimoji="1" lang="en-US" altLang="ja-JP" sz="2000" dirty="0"/>
              <a:t> apt-get upgrade -y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6309206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70416-441B-5580-CBE6-AB821BDE6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FE2464AB-F336-A7AF-3B1E-7671934E923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755" y="2015671"/>
            <a:ext cx="7968003" cy="4487807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BBAF0C3-F838-026C-99B4-CD1F1FAB6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7E12957-D876-330C-D934-145D5DD7AB85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アップテート後の不要なファイルの削除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3DF94CD-72EC-CCFE-D0F1-7262B52DB521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以下のコマンドを入力します。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A0658871-C5DB-465E-A333-6472232A982C}"/>
              </a:ext>
            </a:extLst>
          </p:cNvPr>
          <p:cNvSpPr/>
          <p:nvPr/>
        </p:nvSpPr>
        <p:spPr>
          <a:xfrm>
            <a:off x="1336967" y="6283239"/>
            <a:ext cx="5414813" cy="220239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B346CB1F-FD40-0846-7546-4722B7555E5D}"/>
              </a:ext>
            </a:extLst>
          </p:cNvPr>
          <p:cNvCxnSpPr>
            <a:cxnSpLocks/>
          </p:cNvCxnSpPr>
          <p:nvPr/>
        </p:nvCxnSpPr>
        <p:spPr>
          <a:xfrm>
            <a:off x="2540000" y="1542473"/>
            <a:ext cx="0" cy="4655127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8363157-08B9-EBEA-19AF-B9C95033D382}"/>
              </a:ext>
            </a:extLst>
          </p:cNvPr>
          <p:cNvSpPr txBox="1"/>
          <p:nvPr/>
        </p:nvSpPr>
        <p:spPr>
          <a:xfrm>
            <a:off x="356755" y="1051032"/>
            <a:ext cx="8579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err="1"/>
              <a:t>sudo</a:t>
            </a:r>
            <a:r>
              <a:rPr kumimoji="1" lang="en-US" altLang="ja-JP" sz="2000" dirty="0"/>
              <a:t> apt-get </a:t>
            </a:r>
            <a:r>
              <a:rPr kumimoji="1" lang="en-US" altLang="ja-JP" sz="2000" dirty="0" err="1"/>
              <a:t>dist</a:t>
            </a:r>
            <a:r>
              <a:rPr kumimoji="1" lang="en-US" altLang="ja-JP" sz="2000" dirty="0"/>
              <a:t>-upgrade -</a:t>
            </a:r>
            <a:r>
              <a:rPr kumimoji="1" lang="en-US" altLang="ja-JP" sz="2000" dirty="0" err="1"/>
              <a:t>y;sudo</a:t>
            </a:r>
            <a:r>
              <a:rPr kumimoji="1" lang="en-US" altLang="ja-JP" sz="2000" dirty="0"/>
              <a:t> apt-get </a:t>
            </a:r>
            <a:r>
              <a:rPr kumimoji="1" lang="en-US" altLang="ja-JP" sz="2000" dirty="0" err="1"/>
              <a:t>autoremove</a:t>
            </a:r>
            <a:r>
              <a:rPr kumimoji="1" lang="en-US" altLang="ja-JP" sz="2000" dirty="0"/>
              <a:t> -</a:t>
            </a:r>
            <a:r>
              <a:rPr kumimoji="1" lang="en-US" altLang="ja-JP" sz="2000" dirty="0" err="1"/>
              <a:t>y;sudo</a:t>
            </a:r>
            <a:r>
              <a:rPr kumimoji="1" lang="en-US" altLang="ja-JP" sz="2000" dirty="0"/>
              <a:t> apt-get </a:t>
            </a:r>
            <a:r>
              <a:rPr kumimoji="1" lang="en-US" altLang="ja-JP" sz="2000" dirty="0" err="1"/>
              <a:t>autoclean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218618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F250A-4134-43F8-9A2C-B941A6486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6A6710D2-59B4-C705-316F-5D00940474F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755" y="2015670"/>
            <a:ext cx="7968001" cy="4487807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A8738CA-1279-68A5-BAD6-F8D1229C5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703E8CB-69CC-FADF-BE43-5E6A262FC3BA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ラズパイの再起動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E2DCA6BA-E49D-BDDF-7E4A-37DD3DE8C82D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以下のコマンドを入力します。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3F0BA033-F8DA-AD70-8BC5-BFC026E338CB}"/>
              </a:ext>
            </a:extLst>
          </p:cNvPr>
          <p:cNvSpPr/>
          <p:nvPr/>
        </p:nvSpPr>
        <p:spPr>
          <a:xfrm>
            <a:off x="1336968" y="6283239"/>
            <a:ext cx="1253834" cy="220239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42D30CB4-8DF9-8A98-D2BC-74BC528C79AD}"/>
              </a:ext>
            </a:extLst>
          </p:cNvPr>
          <p:cNvCxnSpPr>
            <a:cxnSpLocks/>
          </p:cNvCxnSpPr>
          <p:nvPr/>
        </p:nvCxnSpPr>
        <p:spPr>
          <a:xfrm>
            <a:off x="1080655" y="1451142"/>
            <a:ext cx="729672" cy="4655127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162D960-7AEB-A83D-4CB9-45C3AAE84280}"/>
              </a:ext>
            </a:extLst>
          </p:cNvPr>
          <p:cNvSpPr txBox="1"/>
          <p:nvPr/>
        </p:nvSpPr>
        <p:spPr>
          <a:xfrm>
            <a:off x="356755" y="1051032"/>
            <a:ext cx="8579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err="1"/>
              <a:t>sudo</a:t>
            </a:r>
            <a:r>
              <a:rPr kumimoji="1" lang="en-US" altLang="ja-JP" sz="2000" dirty="0"/>
              <a:t> reboot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7985181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AE088-8824-58BA-A502-36A651677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16668E8F-856B-2F82-8B1D-99AFF01B4F4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483" y="1401962"/>
            <a:ext cx="8031353" cy="4961977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E6DA258-6FCB-19EB-F312-27C2176B6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6AE80E9-5585-2AF6-FD93-0A3E87AB6DDF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ラズパイに再ログイン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D19F5A1-9E7F-B6EB-003B-7250CDB45393}"/>
              </a:ext>
            </a:extLst>
          </p:cNvPr>
          <p:cNvSpPr txBox="1"/>
          <p:nvPr/>
        </p:nvSpPr>
        <p:spPr>
          <a:xfrm>
            <a:off x="207483" y="650922"/>
            <a:ext cx="85670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モバイルホットスポットに接続が確認されたら、もう一度、</a:t>
            </a:r>
            <a:r>
              <a:rPr kumimoji="1" lang="en-US" altLang="ja-JP" sz="2000" dirty="0"/>
              <a:t>ssh</a:t>
            </a:r>
            <a:r>
              <a:rPr kumimoji="1" lang="ja-JP" altLang="en-US" sz="2000" dirty="0"/>
              <a:t>でログインします。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853A7748-6CF7-827C-2DBB-2D1A475B7713}"/>
              </a:ext>
            </a:extLst>
          </p:cNvPr>
          <p:cNvSpPr/>
          <p:nvPr/>
        </p:nvSpPr>
        <p:spPr>
          <a:xfrm>
            <a:off x="5218545" y="5886030"/>
            <a:ext cx="2549237" cy="470320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023A4705-618A-E06C-1BDB-BCC837017DC8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4491014" y="1051032"/>
            <a:ext cx="1429495" cy="4705531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EC3F80F-8123-A252-5306-A5FB3B6D73D3}"/>
              </a:ext>
            </a:extLst>
          </p:cNvPr>
          <p:cNvSpPr txBox="1"/>
          <p:nvPr/>
        </p:nvSpPr>
        <p:spPr>
          <a:xfrm>
            <a:off x="207483" y="1026442"/>
            <a:ext cx="85670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ssh pi@raspizero2w</a:t>
            </a:r>
            <a:endParaRPr kumimoji="1" lang="ja-JP" altLang="en-US" sz="2000" dirty="0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E2F9555A-2F82-B001-B3A9-5442CA004AF0}"/>
              </a:ext>
            </a:extLst>
          </p:cNvPr>
          <p:cNvSpPr/>
          <p:nvPr/>
        </p:nvSpPr>
        <p:spPr>
          <a:xfrm>
            <a:off x="1002146" y="4643739"/>
            <a:ext cx="1170542" cy="223825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6AA69FD2-D621-3F73-8068-BE704DBE7D77}"/>
              </a:ext>
            </a:extLst>
          </p:cNvPr>
          <p:cNvCxnSpPr>
            <a:cxnSpLocks/>
          </p:cNvCxnSpPr>
          <p:nvPr/>
        </p:nvCxnSpPr>
        <p:spPr>
          <a:xfrm>
            <a:off x="1209964" y="1372732"/>
            <a:ext cx="166254" cy="3199268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32790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5E903-1776-3655-1C16-8AFF7FFB7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57EDC2F-CB5B-CB98-2E9F-78B6EDC01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A681DA7-C591-C88F-7CA1-30D655DA2829}"/>
              </a:ext>
            </a:extLst>
          </p:cNvPr>
          <p:cNvSpPr txBox="1"/>
          <p:nvPr/>
        </p:nvSpPr>
        <p:spPr>
          <a:xfrm>
            <a:off x="868055" y="2262893"/>
            <a:ext cx="74078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400" dirty="0"/>
              <a:t>ラズパイのシステム確認</a:t>
            </a:r>
          </a:p>
        </p:txBody>
      </p:sp>
    </p:spTree>
    <p:extLst>
      <p:ext uri="{BB962C8B-B14F-4D97-AF65-F5344CB8AC3E}">
        <p14:creationId xmlns:p14="http://schemas.microsoft.com/office/powerpoint/2010/main" val="39077643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97194-872F-9BF1-C03B-3D636D747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8AA0BD6E-4536-FA6A-AF12-43BD3DD89B6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754" y="2015670"/>
            <a:ext cx="7968003" cy="4487807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4DB8AB0-5EB3-273F-45A4-923FC15EB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52BBA5D-F7B2-1D61-AEC9-A13E0C29A42A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 err="1"/>
              <a:t>mDNS</a:t>
            </a:r>
            <a:r>
              <a:rPr kumimoji="1" lang="ja-JP" altLang="en-US" sz="2400" dirty="0"/>
              <a:t>の確認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CFBADC82-D4EC-FAEE-2A9C-3D42F87C09E0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以下のコマンドを入力します。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8EEDD0B2-30F0-7265-65B9-E0C4C7D84148}"/>
              </a:ext>
            </a:extLst>
          </p:cNvPr>
          <p:cNvSpPr/>
          <p:nvPr/>
        </p:nvSpPr>
        <p:spPr>
          <a:xfrm>
            <a:off x="1477818" y="6283240"/>
            <a:ext cx="2512290" cy="220237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214F81BE-93AA-1550-137D-29F310BA8AC6}"/>
              </a:ext>
            </a:extLst>
          </p:cNvPr>
          <p:cNvCxnSpPr>
            <a:cxnSpLocks/>
          </p:cNvCxnSpPr>
          <p:nvPr/>
        </p:nvCxnSpPr>
        <p:spPr>
          <a:xfrm>
            <a:off x="1080655" y="1451142"/>
            <a:ext cx="729672" cy="4655127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74E117E-55AF-D27D-6FE2-0A45E51D42AE}"/>
              </a:ext>
            </a:extLst>
          </p:cNvPr>
          <p:cNvSpPr txBox="1"/>
          <p:nvPr/>
        </p:nvSpPr>
        <p:spPr>
          <a:xfrm>
            <a:off x="356755" y="1051032"/>
            <a:ext cx="8579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err="1"/>
              <a:t>sudo</a:t>
            </a:r>
            <a:r>
              <a:rPr kumimoji="1" lang="en-US" altLang="ja-JP" sz="2000" dirty="0"/>
              <a:t> </a:t>
            </a:r>
            <a:r>
              <a:rPr kumimoji="1" lang="en-US" altLang="ja-JP" sz="2000" dirty="0" err="1"/>
              <a:t>systemctl</a:t>
            </a:r>
            <a:r>
              <a:rPr kumimoji="1" lang="en-US" altLang="ja-JP" sz="2000" dirty="0"/>
              <a:t> status avahi-daemon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123851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4CA15-4DAC-0C71-4177-F6EA60A53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3CC74DA9-C9EC-607C-EC97-BD8B8959A85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754" y="2015670"/>
            <a:ext cx="7968003" cy="4487808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1AFE991-09F4-B9D3-76B0-A0DC47BD7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7635051-729D-83DB-7806-52FE25197F94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 err="1"/>
              <a:t>mDNS</a:t>
            </a:r>
            <a:r>
              <a:rPr kumimoji="1" lang="ja-JP" altLang="en-US" sz="2400" dirty="0"/>
              <a:t>の確認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75BF07BD-C336-3D5A-6535-7FABA5AD4EFB}"/>
              </a:ext>
            </a:extLst>
          </p:cNvPr>
          <p:cNvSpPr/>
          <p:nvPr/>
        </p:nvSpPr>
        <p:spPr>
          <a:xfrm>
            <a:off x="683490" y="4362076"/>
            <a:ext cx="3888509" cy="533197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B6321035-9EBA-AD5D-9DFA-34E294C515C6}"/>
              </a:ext>
            </a:extLst>
          </p:cNvPr>
          <p:cNvCxnSpPr>
            <a:cxnSpLocks/>
          </p:cNvCxnSpPr>
          <p:nvPr/>
        </p:nvCxnSpPr>
        <p:spPr>
          <a:xfrm>
            <a:off x="1080655" y="1451142"/>
            <a:ext cx="1191490" cy="2910934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C5CD617-1363-11EB-1DB9-8B36CF190913}"/>
              </a:ext>
            </a:extLst>
          </p:cNvPr>
          <p:cNvSpPr txBox="1"/>
          <p:nvPr/>
        </p:nvSpPr>
        <p:spPr>
          <a:xfrm>
            <a:off x="356755" y="1051032"/>
            <a:ext cx="8579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avahi-</a:t>
            </a:r>
            <a:r>
              <a:rPr kumimoji="1" lang="en-US" altLang="ja-JP" sz="2000" dirty="0" err="1"/>
              <a:t>daemon.sevice</a:t>
            </a:r>
            <a:r>
              <a:rPr kumimoji="1" lang="en-US" altLang="ja-JP" sz="2000" dirty="0"/>
              <a:t> </a:t>
            </a:r>
            <a:r>
              <a:rPr kumimoji="1" lang="ja-JP" altLang="en-US" sz="2000" dirty="0"/>
              <a:t>が動いていて、</a:t>
            </a:r>
            <a:r>
              <a:rPr kumimoji="1" lang="en-US" altLang="ja-JP" sz="2000" dirty="0"/>
              <a:t>[raspizero2w.local]</a:t>
            </a:r>
            <a:r>
              <a:rPr kumimoji="1" lang="ja-JP" altLang="en-US" sz="2000" dirty="0"/>
              <a:t>が確認できれば</a:t>
            </a:r>
            <a:r>
              <a:rPr kumimoji="1" lang="en-US" altLang="ja-JP" sz="2000" dirty="0"/>
              <a:t>OK</a:t>
            </a:r>
            <a:endParaRPr kumimoji="1" lang="ja-JP" altLang="en-US" sz="200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669A48D-E5AC-F70B-BC06-B48055BC1E71}"/>
              </a:ext>
            </a:extLst>
          </p:cNvPr>
          <p:cNvSpPr txBox="1"/>
          <p:nvPr/>
        </p:nvSpPr>
        <p:spPr>
          <a:xfrm>
            <a:off x="1445491" y="1415505"/>
            <a:ext cx="46678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rgbClr val="FF0000"/>
                </a:solidFill>
              </a:rPr>
              <a:t> </a:t>
            </a:r>
            <a:r>
              <a:rPr kumimoji="1" lang="en-US" altLang="ja-JP" sz="2000" dirty="0">
                <a:solidFill>
                  <a:srgbClr val="FF0000"/>
                </a:solidFill>
              </a:rPr>
              <a:t>q </a:t>
            </a:r>
            <a:r>
              <a:rPr kumimoji="1" lang="ja-JP" altLang="en-US" sz="2000" dirty="0">
                <a:solidFill>
                  <a:srgbClr val="FF0000"/>
                </a:solidFill>
              </a:rPr>
              <a:t>キーで、ステータス表示から抜けます。</a:t>
            </a:r>
          </a:p>
        </p:txBody>
      </p:sp>
    </p:spTree>
    <p:extLst>
      <p:ext uri="{BB962C8B-B14F-4D97-AF65-F5344CB8AC3E}">
        <p14:creationId xmlns:p14="http://schemas.microsoft.com/office/powerpoint/2010/main" val="17098839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D110D-6B96-5C80-B5B7-6E597FF39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327535B6-8611-CB5A-2FA7-49AF10E7D64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754" y="2015670"/>
            <a:ext cx="7968005" cy="4487808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038415B-48A9-C742-DD75-2746D075A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1394BDA-FDE7-F3C3-075F-3D9E4D59BCE9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ラズパイの仕様の確認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CE727C52-07F7-9B28-9FDE-D8856FDFBCA5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以下のコマンドを入力します。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0BC5546B-17F0-00F2-25BE-B1FBBE43A8B0}"/>
              </a:ext>
            </a:extLst>
          </p:cNvPr>
          <p:cNvSpPr/>
          <p:nvPr/>
        </p:nvSpPr>
        <p:spPr>
          <a:xfrm>
            <a:off x="1510723" y="6255351"/>
            <a:ext cx="1324841" cy="266599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8913EDA8-F4B5-73EC-C0B5-345912424A70}"/>
              </a:ext>
            </a:extLst>
          </p:cNvPr>
          <p:cNvCxnSpPr>
            <a:cxnSpLocks/>
          </p:cNvCxnSpPr>
          <p:nvPr/>
        </p:nvCxnSpPr>
        <p:spPr>
          <a:xfrm>
            <a:off x="1080655" y="1451142"/>
            <a:ext cx="868218" cy="4755936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A704375-D95A-1F41-4F09-F305988CFD8D}"/>
              </a:ext>
            </a:extLst>
          </p:cNvPr>
          <p:cNvSpPr txBox="1"/>
          <p:nvPr/>
        </p:nvSpPr>
        <p:spPr>
          <a:xfrm>
            <a:off x="356755" y="1051032"/>
            <a:ext cx="8579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cat /proc/</a:t>
            </a:r>
            <a:r>
              <a:rPr kumimoji="1" lang="en-US" altLang="ja-JP" sz="2000" dirty="0" err="1"/>
              <a:t>cpuinfo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1724118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AC3AD-E7AB-43B5-64D9-74DC72202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21D1DE39-66CF-A74D-674B-7B0F82288B5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755" y="2015670"/>
            <a:ext cx="8000799" cy="4506280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753FDC5-7970-EC3A-8F49-C4513C8A9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2DBD01E-1C28-99AE-04C1-C14A82F22BA5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ラズパイの仕様の確認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B88B8AD2-0C38-B07B-9824-1C286E464DE5}"/>
              </a:ext>
            </a:extLst>
          </p:cNvPr>
          <p:cNvSpPr/>
          <p:nvPr/>
        </p:nvSpPr>
        <p:spPr>
          <a:xfrm>
            <a:off x="356755" y="5900038"/>
            <a:ext cx="3226954" cy="456312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43FC5FFE-F3CB-7383-38EB-95605A8ECDA2}"/>
              </a:ext>
            </a:extLst>
          </p:cNvPr>
          <p:cNvCxnSpPr>
            <a:cxnSpLocks/>
          </p:cNvCxnSpPr>
          <p:nvPr/>
        </p:nvCxnSpPr>
        <p:spPr>
          <a:xfrm>
            <a:off x="1080655" y="1451142"/>
            <a:ext cx="332509" cy="4355826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D4C0140-BD6A-002E-FA04-08FC9467487B}"/>
              </a:ext>
            </a:extLst>
          </p:cNvPr>
          <p:cNvSpPr txBox="1"/>
          <p:nvPr/>
        </p:nvSpPr>
        <p:spPr>
          <a:xfrm>
            <a:off x="356755" y="1051032"/>
            <a:ext cx="8579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リビジョン</a:t>
            </a:r>
            <a:r>
              <a:rPr kumimoji="1" lang="en-US" altLang="ja-JP" sz="2000" dirty="0"/>
              <a:t>, </a:t>
            </a:r>
            <a:r>
              <a:rPr kumimoji="1" lang="ja-JP" altLang="en-US" sz="2000" dirty="0"/>
              <a:t>シリアル</a:t>
            </a:r>
            <a:r>
              <a:rPr kumimoji="1" lang="en-US" altLang="ja-JP" sz="2000" dirty="0"/>
              <a:t>, </a:t>
            </a:r>
            <a:r>
              <a:rPr kumimoji="1" lang="ja-JP" altLang="en-US" sz="2000" dirty="0"/>
              <a:t>モデル バージョンが分かります。</a:t>
            </a:r>
          </a:p>
        </p:txBody>
      </p:sp>
    </p:spTree>
    <p:extLst>
      <p:ext uri="{BB962C8B-B14F-4D97-AF65-F5344CB8AC3E}">
        <p14:creationId xmlns:p14="http://schemas.microsoft.com/office/powerpoint/2010/main" val="39611175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33606-8BA9-22C6-AAAD-987CCC641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84BF273E-BE3D-C634-CAC1-5FE222F196E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753" y="2015670"/>
            <a:ext cx="7968003" cy="4487808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AC7F411-6D30-FE4A-0AAC-62A2FEC9D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8DB3FAB-8E4E-3355-F590-015A0E70C550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ラズパイの仕様の確認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CD963E9-CE2B-7540-CEA8-F1F453C07C27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以下のコマンドを入力します。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2237460-85E5-4825-E0EC-91FC995414B8}"/>
              </a:ext>
            </a:extLst>
          </p:cNvPr>
          <p:cNvSpPr/>
          <p:nvPr/>
        </p:nvSpPr>
        <p:spPr>
          <a:xfrm>
            <a:off x="356753" y="6027788"/>
            <a:ext cx="6986156" cy="328561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BD958F4A-95C7-CF9A-F51B-75968E536C4D}"/>
              </a:ext>
            </a:extLst>
          </p:cNvPr>
          <p:cNvCxnSpPr>
            <a:cxnSpLocks/>
          </p:cNvCxnSpPr>
          <p:nvPr/>
        </p:nvCxnSpPr>
        <p:spPr>
          <a:xfrm>
            <a:off x="1080655" y="1451142"/>
            <a:ext cx="646545" cy="4576645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848193C-E8D9-87F7-B572-3454F2C60BDB}"/>
              </a:ext>
            </a:extLst>
          </p:cNvPr>
          <p:cNvSpPr txBox="1"/>
          <p:nvPr/>
        </p:nvSpPr>
        <p:spPr>
          <a:xfrm>
            <a:off x="356755" y="1051032"/>
            <a:ext cx="8579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err="1"/>
              <a:t>uname</a:t>
            </a:r>
            <a:r>
              <a:rPr kumimoji="1" lang="en-US" altLang="ja-JP" sz="2000" dirty="0"/>
              <a:t> -a</a:t>
            </a:r>
            <a:endParaRPr kumimoji="1" lang="ja-JP" altLang="en-US" sz="20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051516B-034E-E9D1-E19B-48DED0BE6AE1}"/>
              </a:ext>
            </a:extLst>
          </p:cNvPr>
          <p:cNvSpPr txBox="1"/>
          <p:nvPr/>
        </p:nvSpPr>
        <p:spPr>
          <a:xfrm>
            <a:off x="1570700" y="1506886"/>
            <a:ext cx="45582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err="1"/>
              <a:t>linux</a:t>
            </a:r>
            <a:r>
              <a:rPr kumimoji="1" lang="ja-JP" altLang="en-US" sz="2000" dirty="0"/>
              <a:t>のバージョンなどが分かります。</a:t>
            </a:r>
          </a:p>
        </p:txBody>
      </p:sp>
    </p:spTree>
    <p:extLst>
      <p:ext uri="{BB962C8B-B14F-4D97-AF65-F5344CB8AC3E}">
        <p14:creationId xmlns:p14="http://schemas.microsoft.com/office/powerpoint/2010/main" val="15815303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2007F-9FED-642E-785C-01AE0EC17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8160D0C-EE3F-9B7A-1AF9-3B16687BE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0FC6C17-FB3F-7C1C-1DD8-549CCB6741A0}"/>
              </a:ext>
            </a:extLst>
          </p:cNvPr>
          <p:cNvSpPr txBox="1"/>
          <p:nvPr/>
        </p:nvSpPr>
        <p:spPr>
          <a:xfrm>
            <a:off x="868055" y="2262893"/>
            <a:ext cx="74078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400" dirty="0"/>
              <a:t>ラズパイのシステム終了</a:t>
            </a:r>
          </a:p>
        </p:txBody>
      </p:sp>
    </p:spTree>
    <p:extLst>
      <p:ext uri="{BB962C8B-B14F-4D97-AF65-F5344CB8AC3E}">
        <p14:creationId xmlns:p14="http://schemas.microsoft.com/office/powerpoint/2010/main" val="7764819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811C3-A0AF-FAFD-41F3-7494A199F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12E3841C-7C31-4A7F-3893-F214EA62913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754" y="2015670"/>
            <a:ext cx="7968003" cy="4487808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0995E24-01B7-5B39-469A-B8BC4DAEF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29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3A6A7CE-9B62-3E0A-9AEA-FC024AFBCE47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ラズパイの仕様の確認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B09BF77-53DC-403D-6D58-EC9590BB22FB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以下のコマンドを入力します。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D037D864-8434-B239-4376-D155D48AB0B3}"/>
              </a:ext>
            </a:extLst>
          </p:cNvPr>
          <p:cNvSpPr/>
          <p:nvPr/>
        </p:nvSpPr>
        <p:spPr>
          <a:xfrm>
            <a:off x="1487872" y="4374479"/>
            <a:ext cx="1606310" cy="197521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E8CCD0C2-C7B6-5047-EBA9-10EB5047EF25}"/>
              </a:ext>
            </a:extLst>
          </p:cNvPr>
          <p:cNvCxnSpPr>
            <a:cxnSpLocks/>
          </p:cNvCxnSpPr>
          <p:nvPr/>
        </p:nvCxnSpPr>
        <p:spPr>
          <a:xfrm>
            <a:off x="1080655" y="1451142"/>
            <a:ext cx="720436" cy="2816058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46A0E89-3168-EC2A-BAFF-432B4A3AEC6E}"/>
              </a:ext>
            </a:extLst>
          </p:cNvPr>
          <p:cNvSpPr txBox="1"/>
          <p:nvPr/>
        </p:nvSpPr>
        <p:spPr>
          <a:xfrm>
            <a:off x="356755" y="1051032"/>
            <a:ext cx="8579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err="1"/>
              <a:t>sudo</a:t>
            </a:r>
            <a:r>
              <a:rPr kumimoji="1" lang="en-US" altLang="ja-JP" sz="2000" dirty="0"/>
              <a:t> shutdown -h now</a:t>
            </a:r>
            <a:endParaRPr kumimoji="1" lang="ja-JP" altLang="en-US" sz="20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E17BE90-D1A1-CAE8-D4B8-4A24B94A97B7}"/>
              </a:ext>
            </a:extLst>
          </p:cNvPr>
          <p:cNvSpPr txBox="1"/>
          <p:nvPr/>
        </p:nvSpPr>
        <p:spPr>
          <a:xfrm>
            <a:off x="1570700" y="1506886"/>
            <a:ext cx="72165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終了すると、ラズパイ</a:t>
            </a:r>
            <a:r>
              <a:rPr kumimoji="1" lang="en-US" altLang="ja-JP" sz="2000" dirty="0"/>
              <a:t>ZERO 2 W</a:t>
            </a:r>
            <a:r>
              <a:rPr kumimoji="1" lang="ja-JP" altLang="en-US" sz="2000" dirty="0"/>
              <a:t> の緑の</a:t>
            </a:r>
            <a:r>
              <a:rPr kumimoji="1" lang="en-US" altLang="ja-JP" sz="2000" dirty="0"/>
              <a:t>LED</a:t>
            </a:r>
            <a:r>
              <a:rPr kumimoji="1" lang="ja-JP" altLang="en-US" sz="2000" dirty="0"/>
              <a:t>が消えます。</a:t>
            </a:r>
          </a:p>
        </p:txBody>
      </p:sp>
    </p:spTree>
    <p:extLst>
      <p:ext uri="{BB962C8B-B14F-4D97-AF65-F5344CB8AC3E}">
        <p14:creationId xmlns:p14="http://schemas.microsoft.com/office/powerpoint/2010/main" val="36965370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5D872-9BD9-AC8E-6D8F-6A6EA4453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ADCBB88-F7C2-61B5-AD7F-BA0C4901E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30</a:t>
            </a:fld>
            <a:endParaRPr 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A0616F6-A557-24BB-4C31-72EB604FC220}"/>
              </a:ext>
            </a:extLst>
          </p:cNvPr>
          <p:cNvSpPr txBox="1"/>
          <p:nvPr/>
        </p:nvSpPr>
        <p:spPr>
          <a:xfrm>
            <a:off x="868055" y="2262893"/>
            <a:ext cx="74078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400" dirty="0" err="1"/>
              <a:t>WiFi</a:t>
            </a:r>
            <a:r>
              <a:rPr kumimoji="1" lang="ja-JP" altLang="en-US" sz="4400" dirty="0"/>
              <a:t>ルータへの接続設定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DF76BAB-4089-C89D-9227-D46058BDC3F6}"/>
              </a:ext>
            </a:extLst>
          </p:cNvPr>
          <p:cNvSpPr txBox="1"/>
          <p:nvPr/>
        </p:nvSpPr>
        <p:spPr>
          <a:xfrm>
            <a:off x="868055" y="3691259"/>
            <a:ext cx="74078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/>
              <a:t>自宅の</a:t>
            </a:r>
            <a:r>
              <a:rPr kumimoji="1" lang="en-US" altLang="ja-JP" sz="2800" dirty="0" err="1"/>
              <a:t>WiFi</a:t>
            </a:r>
            <a:r>
              <a:rPr kumimoji="1" lang="ja-JP" altLang="en-US" sz="2800" dirty="0"/>
              <a:t>に自動接続できるようにします</a:t>
            </a:r>
          </a:p>
        </p:txBody>
      </p:sp>
    </p:spTree>
    <p:extLst>
      <p:ext uri="{BB962C8B-B14F-4D97-AF65-F5344CB8AC3E}">
        <p14:creationId xmlns:p14="http://schemas.microsoft.com/office/powerpoint/2010/main" val="41804507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E4355-F7B1-062F-3A3C-B559C394C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5170EA3C-D4BB-54F6-6459-21F9EDA22E0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753" y="2015670"/>
            <a:ext cx="7968003" cy="4487808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CC1CDC6-2798-4DB1-C9EA-7C2B81FEE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31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E4A4EC5-EB03-972F-6C26-D3507876A12E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 err="1"/>
              <a:t>WiFi</a:t>
            </a:r>
            <a:r>
              <a:rPr kumimoji="1" lang="ja-JP" altLang="en-US" sz="2400" dirty="0"/>
              <a:t> </a:t>
            </a:r>
            <a:r>
              <a:rPr kumimoji="1" lang="en-US" altLang="ja-JP" sz="2400" dirty="0"/>
              <a:t>SSID</a:t>
            </a:r>
            <a:r>
              <a:rPr kumimoji="1" lang="ja-JP" altLang="en-US" sz="2400" dirty="0"/>
              <a:t>のスキャン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173BB16-3FD5-C817-6159-FEBD6A05385B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以下のコマンドを入力します。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71A2E991-29D0-3A6E-CCA3-350129C55076}"/>
              </a:ext>
            </a:extLst>
          </p:cNvPr>
          <p:cNvSpPr/>
          <p:nvPr/>
        </p:nvSpPr>
        <p:spPr>
          <a:xfrm>
            <a:off x="1570700" y="3962400"/>
            <a:ext cx="2354755" cy="223610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FD681F40-DF05-1C68-8ED1-61540DFBB84C}"/>
              </a:ext>
            </a:extLst>
          </p:cNvPr>
          <p:cNvCxnSpPr>
            <a:cxnSpLocks/>
          </p:cNvCxnSpPr>
          <p:nvPr/>
        </p:nvCxnSpPr>
        <p:spPr>
          <a:xfrm>
            <a:off x="2013527" y="1451142"/>
            <a:ext cx="0" cy="2437367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F4D0221-62E0-3AEC-34B0-B45AE08FABF1}"/>
              </a:ext>
            </a:extLst>
          </p:cNvPr>
          <p:cNvSpPr txBox="1"/>
          <p:nvPr/>
        </p:nvSpPr>
        <p:spPr>
          <a:xfrm>
            <a:off x="356755" y="1051032"/>
            <a:ext cx="8579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err="1"/>
              <a:t>sudo</a:t>
            </a:r>
            <a:r>
              <a:rPr kumimoji="1" lang="en-US" altLang="ja-JP" sz="2000" dirty="0"/>
              <a:t> </a:t>
            </a:r>
            <a:r>
              <a:rPr kumimoji="1" lang="en-US" altLang="ja-JP" sz="2000" dirty="0" err="1"/>
              <a:t>iw</a:t>
            </a:r>
            <a:r>
              <a:rPr kumimoji="1" lang="en-US" altLang="ja-JP" sz="2000" dirty="0"/>
              <a:t> dev wlan0 scan | grep SSID</a:t>
            </a:r>
            <a:endParaRPr kumimoji="1" lang="ja-JP" altLang="en-US" sz="20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3AC2304-9EEC-C17F-5E18-EA59C780D2D4}"/>
              </a:ext>
            </a:extLst>
          </p:cNvPr>
          <p:cNvSpPr txBox="1"/>
          <p:nvPr/>
        </p:nvSpPr>
        <p:spPr>
          <a:xfrm>
            <a:off x="3670300" y="1549554"/>
            <a:ext cx="45582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見えている</a:t>
            </a:r>
            <a:r>
              <a:rPr kumimoji="1" lang="en-US" altLang="ja-JP" sz="2000" dirty="0"/>
              <a:t>SSID</a:t>
            </a:r>
            <a:r>
              <a:rPr kumimoji="1" lang="ja-JP" altLang="en-US" sz="2000" dirty="0"/>
              <a:t>が表示されます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68CBC6B0-CBDB-4210-9045-9EA0C684C029}"/>
              </a:ext>
            </a:extLst>
          </p:cNvPr>
          <p:cNvSpPr/>
          <p:nvPr/>
        </p:nvSpPr>
        <p:spPr>
          <a:xfrm>
            <a:off x="836150" y="4145287"/>
            <a:ext cx="2184142" cy="962422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80BE22A4-FCE2-4839-57E7-94BB0C1D74F8}"/>
              </a:ext>
            </a:extLst>
          </p:cNvPr>
          <p:cNvCxnSpPr>
            <a:cxnSpLocks/>
          </p:cNvCxnSpPr>
          <p:nvPr/>
        </p:nvCxnSpPr>
        <p:spPr>
          <a:xfrm flipH="1">
            <a:off x="3121891" y="1874982"/>
            <a:ext cx="1450109" cy="2377034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82253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2DCF6-7FBA-B0C8-C83A-C37D97385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8A48F057-6E93-4211-B964-B7188C84A05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755" y="2015670"/>
            <a:ext cx="7968001" cy="4487806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3FFB237-E12F-1370-F54F-28A3EBD5B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32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7FC83D2-3AB2-79A9-C17F-4200FFCDF0CA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現在の設定</a:t>
            </a:r>
            <a:r>
              <a:rPr kumimoji="1" lang="en-US" altLang="ja-JP" sz="2400" dirty="0"/>
              <a:t>(preconfigured)</a:t>
            </a:r>
            <a:r>
              <a:rPr kumimoji="1" lang="ja-JP" altLang="en-US" sz="2400" dirty="0"/>
              <a:t>を確認する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E40FA0E1-ABFD-25EB-7362-1BB598E2A50E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以下のコマンドを入力します。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FD51B397-F10E-0B14-8B49-9260AD949CED}"/>
              </a:ext>
            </a:extLst>
          </p:cNvPr>
          <p:cNvSpPr/>
          <p:nvPr/>
        </p:nvSpPr>
        <p:spPr>
          <a:xfrm>
            <a:off x="1570700" y="6049819"/>
            <a:ext cx="3213735" cy="120315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F2147361-2FB4-C942-1E9D-481EFA5EA423}"/>
              </a:ext>
            </a:extLst>
          </p:cNvPr>
          <p:cNvCxnSpPr>
            <a:cxnSpLocks/>
          </p:cNvCxnSpPr>
          <p:nvPr/>
        </p:nvCxnSpPr>
        <p:spPr>
          <a:xfrm>
            <a:off x="2013527" y="1451142"/>
            <a:ext cx="457084" cy="4487806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291F230-AD39-8D84-43FA-D732C3EBD9A8}"/>
              </a:ext>
            </a:extLst>
          </p:cNvPr>
          <p:cNvSpPr txBox="1"/>
          <p:nvPr/>
        </p:nvSpPr>
        <p:spPr>
          <a:xfrm>
            <a:off x="356755" y="1051032"/>
            <a:ext cx="8579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err="1"/>
              <a:t>nmcli</a:t>
            </a:r>
            <a:r>
              <a:rPr kumimoji="1" lang="en-US" altLang="ja-JP" sz="2000" dirty="0"/>
              <a:t> c show preconfigured | grep </a:t>
            </a:r>
            <a:r>
              <a:rPr kumimoji="1" lang="en-US" altLang="ja-JP" sz="2000" dirty="0" err="1"/>
              <a:t>wireless.ssid</a:t>
            </a:r>
            <a:endParaRPr kumimoji="1" lang="ja-JP" altLang="en-US" sz="20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61774F7-B4D1-DF49-30B8-998694E88122}"/>
              </a:ext>
            </a:extLst>
          </p:cNvPr>
          <p:cNvSpPr txBox="1"/>
          <p:nvPr/>
        </p:nvSpPr>
        <p:spPr>
          <a:xfrm>
            <a:off x="2470611" y="1392663"/>
            <a:ext cx="54357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pi</a:t>
            </a:r>
            <a:r>
              <a:rPr kumimoji="1" lang="ja-JP" altLang="en-US" sz="2000" dirty="0"/>
              <a:t>と表示されました。</a:t>
            </a: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3E70ED0C-4370-A7CB-E82B-AD010F2C25D7}"/>
              </a:ext>
            </a:extLst>
          </p:cNvPr>
          <p:cNvCxnSpPr>
            <a:cxnSpLocks/>
          </p:cNvCxnSpPr>
          <p:nvPr/>
        </p:nvCxnSpPr>
        <p:spPr>
          <a:xfrm>
            <a:off x="3029527" y="1792773"/>
            <a:ext cx="0" cy="4377361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98322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C544F-C191-6BFA-6A44-8784FDC75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F0141AFE-D6FC-0AEB-F4F0-F2E416A71A2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755" y="1514923"/>
            <a:ext cx="7968000" cy="4487806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F1C8801-969A-7572-4621-0FDB7DA4F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33</a:t>
            </a:fld>
            <a:endParaRPr 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45CA98F-A79B-E855-4F08-6684545ADB56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部屋の</a:t>
            </a:r>
            <a:r>
              <a:rPr kumimoji="1" lang="en-US" altLang="ja-JP" sz="2400" dirty="0" err="1"/>
              <a:t>WiFi</a:t>
            </a:r>
            <a:r>
              <a:rPr kumimoji="1" lang="ja-JP" altLang="en-US" sz="2400" dirty="0"/>
              <a:t>ルータ</a:t>
            </a:r>
            <a:r>
              <a:rPr kumimoji="1" lang="en-US" altLang="ja-JP" sz="2400" dirty="0"/>
              <a:t>(higashi-2f)</a:t>
            </a:r>
            <a:r>
              <a:rPr kumimoji="1" lang="ja-JP" altLang="en-US" sz="2400" dirty="0"/>
              <a:t>を登録する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2A9CF6B2-F3EB-0838-E154-E2076B71D1EF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以下のコマンドを入力して、部屋の</a:t>
            </a:r>
            <a:r>
              <a:rPr kumimoji="1" lang="en-US" altLang="ja-JP" sz="2000" dirty="0" err="1"/>
              <a:t>WiFi</a:t>
            </a:r>
            <a:r>
              <a:rPr kumimoji="1" lang="ja-JP" altLang="en-US" sz="2000" dirty="0"/>
              <a:t>の</a:t>
            </a:r>
            <a:r>
              <a:rPr kumimoji="1" lang="en-US" altLang="ja-JP" sz="2000" dirty="0"/>
              <a:t>BSSID</a:t>
            </a:r>
            <a:r>
              <a:rPr kumimoji="1" lang="ja-JP" altLang="en-US" sz="2000" dirty="0"/>
              <a:t>と</a:t>
            </a:r>
            <a:r>
              <a:rPr kumimoji="1" lang="en-US" altLang="ja-JP" sz="2000" dirty="0"/>
              <a:t>SSID</a:t>
            </a:r>
            <a:r>
              <a:rPr kumimoji="1" lang="ja-JP" altLang="en-US" sz="2000" dirty="0"/>
              <a:t>を確認します。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6EA6C32E-F6A1-485E-7B56-B93856832A39}"/>
              </a:ext>
            </a:extLst>
          </p:cNvPr>
          <p:cNvSpPr/>
          <p:nvPr/>
        </p:nvSpPr>
        <p:spPr>
          <a:xfrm>
            <a:off x="1570700" y="4424224"/>
            <a:ext cx="3416928" cy="203200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E3C3F5AC-2321-F131-F23B-386FBF3EC205}"/>
              </a:ext>
            </a:extLst>
          </p:cNvPr>
          <p:cNvCxnSpPr>
            <a:cxnSpLocks/>
          </p:cNvCxnSpPr>
          <p:nvPr/>
        </p:nvCxnSpPr>
        <p:spPr>
          <a:xfrm>
            <a:off x="2013527" y="1451142"/>
            <a:ext cx="0" cy="2848460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657CDE1-8879-E782-4815-83C1752CE859}"/>
              </a:ext>
            </a:extLst>
          </p:cNvPr>
          <p:cNvSpPr txBox="1"/>
          <p:nvPr/>
        </p:nvSpPr>
        <p:spPr>
          <a:xfrm>
            <a:off x="356755" y="1051032"/>
            <a:ext cx="8579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err="1"/>
              <a:t>sudo</a:t>
            </a:r>
            <a:r>
              <a:rPr kumimoji="1" lang="en-US" altLang="ja-JP" sz="2000" dirty="0"/>
              <a:t> </a:t>
            </a:r>
            <a:r>
              <a:rPr kumimoji="1" lang="en-US" altLang="ja-JP" sz="2000" dirty="0" err="1"/>
              <a:t>nmcli</a:t>
            </a:r>
            <a:r>
              <a:rPr kumimoji="1" lang="en-US" altLang="ja-JP" sz="2000" dirty="0"/>
              <a:t> dev </a:t>
            </a:r>
            <a:r>
              <a:rPr kumimoji="1" lang="en-US" altLang="ja-JP" sz="2000" dirty="0" err="1"/>
              <a:t>wifi</a:t>
            </a:r>
            <a:r>
              <a:rPr kumimoji="1" lang="en-US" altLang="ja-JP" sz="2000" dirty="0"/>
              <a:t> </a:t>
            </a:r>
            <a:r>
              <a:rPr kumimoji="1" lang="en-US" altLang="ja-JP" sz="2000" dirty="0" err="1"/>
              <a:t>rescan;sudo</a:t>
            </a:r>
            <a:r>
              <a:rPr kumimoji="1" lang="en-US" altLang="ja-JP" sz="2000" dirty="0"/>
              <a:t> </a:t>
            </a:r>
            <a:r>
              <a:rPr kumimoji="1" lang="en-US" altLang="ja-JP" sz="2000" dirty="0" err="1"/>
              <a:t>nmcli</a:t>
            </a:r>
            <a:r>
              <a:rPr kumimoji="1" lang="en-US" altLang="ja-JP" sz="2000" dirty="0"/>
              <a:t> dev </a:t>
            </a:r>
            <a:r>
              <a:rPr kumimoji="1" lang="en-US" altLang="ja-JP" sz="2000" dirty="0" err="1"/>
              <a:t>wifi</a:t>
            </a:r>
            <a:r>
              <a:rPr kumimoji="1" lang="en-US" altLang="ja-JP" sz="2000" dirty="0"/>
              <a:t> list</a:t>
            </a:r>
            <a:endParaRPr kumimoji="1" lang="ja-JP" altLang="en-US" sz="20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2D8EC3B-91F9-DEEC-C1DB-1E4BE3258FB5}"/>
              </a:ext>
            </a:extLst>
          </p:cNvPr>
          <p:cNvSpPr txBox="1"/>
          <p:nvPr/>
        </p:nvSpPr>
        <p:spPr>
          <a:xfrm>
            <a:off x="426699" y="6031080"/>
            <a:ext cx="78980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pt-BR" altLang="ja-JP" sz="2000" dirty="0"/>
              <a:t>BSSID: 00:90:FE:E4:99:04, SSID: higashi-2f, WPA2 </a:t>
            </a:r>
            <a:r>
              <a:rPr kumimoji="1" lang="ja-JP" altLang="en-US" sz="2000" dirty="0"/>
              <a:t>を確認しました。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342B3A45-D508-7706-C997-344F801C00B0}"/>
              </a:ext>
            </a:extLst>
          </p:cNvPr>
          <p:cNvSpPr/>
          <p:nvPr/>
        </p:nvSpPr>
        <p:spPr>
          <a:xfrm>
            <a:off x="762146" y="5088121"/>
            <a:ext cx="6100471" cy="234891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0A5BAE1-6796-CB89-8470-5391C5235C31}"/>
              </a:ext>
            </a:extLst>
          </p:cNvPr>
          <p:cNvSpPr txBox="1"/>
          <p:nvPr/>
        </p:nvSpPr>
        <p:spPr>
          <a:xfrm>
            <a:off x="356755" y="6356350"/>
            <a:ext cx="46678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rgbClr val="FF0000"/>
                </a:solidFill>
              </a:rPr>
              <a:t> </a:t>
            </a:r>
            <a:r>
              <a:rPr kumimoji="1" lang="en-US" altLang="ja-JP" sz="2000" dirty="0">
                <a:solidFill>
                  <a:srgbClr val="FF0000"/>
                </a:solidFill>
              </a:rPr>
              <a:t>q </a:t>
            </a:r>
            <a:r>
              <a:rPr kumimoji="1" lang="ja-JP" altLang="en-US" sz="2000" dirty="0">
                <a:solidFill>
                  <a:srgbClr val="FF0000"/>
                </a:solidFill>
              </a:rPr>
              <a:t>キーで、ステータス表示から抜けます。</a:t>
            </a:r>
          </a:p>
        </p:txBody>
      </p:sp>
    </p:spTree>
    <p:extLst>
      <p:ext uri="{BB962C8B-B14F-4D97-AF65-F5344CB8AC3E}">
        <p14:creationId xmlns:p14="http://schemas.microsoft.com/office/powerpoint/2010/main" val="19558614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76505-64B0-A694-4832-07B419933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9E90F088-7E4A-303B-A1E1-2C6E076A7F9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1563" y="1820474"/>
            <a:ext cx="8100291" cy="4562316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7FD63EB-BF5F-FAF2-1BF3-651E9AB6B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34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9958474-0B4C-75D7-CEC0-D5575B47C395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部屋の</a:t>
            </a:r>
            <a:r>
              <a:rPr kumimoji="1" lang="en-US" altLang="ja-JP" sz="2400" dirty="0" err="1"/>
              <a:t>WiFi</a:t>
            </a:r>
            <a:r>
              <a:rPr kumimoji="1" lang="ja-JP" altLang="en-US" sz="2400" dirty="0"/>
              <a:t>ルータ</a:t>
            </a:r>
            <a:r>
              <a:rPr kumimoji="1" lang="en-US" altLang="ja-JP" sz="2400" dirty="0"/>
              <a:t>(higashi-2f)</a:t>
            </a:r>
            <a:r>
              <a:rPr kumimoji="1" lang="ja-JP" altLang="en-US" sz="2400" dirty="0"/>
              <a:t>を登録する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FDDFC64-DE0D-79B5-26F3-C8013091A601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以下のコマンドを入力します。</a:t>
            </a: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870D2979-5166-D7A4-FBE5-684EC0C8A4EF}"/>
              </a:ext>
            </a:extLst>
          </p:cNvPr>
          <p:cNvCxnSpPr>
            <a:cxnSpLocks/>
          </p:cNvCxnSpPr>
          <p:nvPr/>
        </p:nvCxnSpPr>
        <p:spPr>
          <a:xfrm>
            <a:off x="2013527" y="1451142"/>
            <a:ext cx="295564" cy="4403042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5E073E8-7F8C-C784-72D6-E62E96E70AED}"/>
              </a:ext>
            </a:extLst>
          </p:cNvPr>
          <p:cNvSpPr txBox="1"/>
          <p:nvPr/>
        </p:nvSpPr>
        <p:spPr>
          <a:xfrm>
            <a:off x="356755" y="1051032"/>
            <a:ext cx="839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sudo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nmcli</a:t>
            </a:r>
            <a:r>
              <a:rPr kumimoji="1" lang="en-US" altLang="ja-JP" dirty="0"/>
              <a:t> connection add type </a:t>
            </a:r>
            <a:r>
              <a:rPr kumimoji="1" lang="en-US" altLang="ja-JP" dirty="0" err="1"/>
              <a:t>wifi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ifname</a:t>
            </a:r>
            <a:r>
              <a:rPr kumimoji="1" lang="en-US" altLang="ja-JP" dirty="0"/>
              <a:t> wlan0 con-name higashi-2f </a:t>
            </a:r>
            <a:r>
              <a:rPr kumimoji="1" lang="en-US" altLang="ja-JP" dirty="0" err="1"/>
              <a:t>ssid</a:t>
            </a:r>
            <a:r>
              <a:rPr kumimoji="1" lang="en-US" altLang="ja-JP" dirty="0"/>
              <a:t> higashi-2f</a:t>
            </a:r>
            <a:endParaRPr kumimoji="1" lang="ja-JP" altLang="en-US" dirty="0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B4945D65-B6C3-C96C-2377-E55374F165B9}"/>
              </a:ext>
            </a:extLst>
          </p:cNvPr>
          <p:cNvSpPr/>
          <p:nvPr/>
        </p:nvSpPr>
        <p:spPr>
          <a:xfrm>
            <a:off x="1506178" y="5884962"/>
            <a:ext cx="5642767" cy="167169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F088A66-B122-6F08-9841-D8921FAF4452}"/>
              </a:ext>
            </a:extLst>
          </p:cNvPr>
          <p:cNvSpPr txBox="1"/>
          <p:nvPr/>
        </p:nvSpPr>
        <p:spPr>
          <a:xfrm>
            <a:off x="2457524" y="6334845"/>
            <a:ext cx="2539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rgbClr val="FF0000"/>
                </a:solidFill>
              </a:rPr>
              <a:t>追加したと出ます。</a:t>
            </a:r>
          </a:p>
        </p:txBody>
      </p:sp>
    </p:spTree>
    <p:extLst>
      <p:ext uri="{BB962C8B-B14F-4D97-AF65-F5344CB8AC3E}">
        <p14:creationId xmlns:p14="http://schemas.microsoft.com/office/powerpoint/2010/main" val="34683894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03781-C220-F8D6-71AE-434354027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148C83EC-E6AC-3A80-C069-D7C10A8C308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1562" y="2731161"/>
            <a:ext cx="8678257" cy="2773711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9306B01-9E49-DD48-EDB8-D9E5481F7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35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12CDA1E-CCB0-EF18-8304-3102D3660025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部屋の</a:t>
            </a:r>
            <a:r>
              <a:rPr kumimoji="1" lang="en-US" altLang="ja-JP" sz="2400" dirty="0" err="1"/>
              <a:t>WiFi</a:t>
            </a:r>
            <a:r>
              <a:rPr kumimoji="1" lang="ja-JP" altLang="en-US" sz="2400" dirty="0"/>
              <a:t>ルータ</a:t>
            </a:r>
            <a:r>
              <a:rPr kumimoji="1" lang="en-US" altLang="ja-JP" sz="2400" dirty="0"/>
              <a:t>(higashi-2f)</a:t>
            </a:r>
            <a:r>
              <a:rPr kumimoji="1" lang="ja-JP" altLang="en-US" sz="2400" dirty="0"/>
              <a:t>を登録する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C2C7FCCB-51C5-0911-1C75-EE67FA40E4B5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以下のコマンドを</a:t>
            </a:r>
            <a:r>
              <a:rPr kumimoji="1" lang="en-US" altLang="ja-JP" sz="2000" dirty="0"/>
              <a:t>1</a:t>
            </a:r>
            <a:r>
              <a:rPr kumimoji="1" lang="ja-JP" altLang="en-US" sz="2000" dirty="0"/>
              <a:t>行ずつ実行します。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6FEC226-40DA-54C3-DAF9-86B56AA84642}"/>
              </a:ext>
            </a:extLst>
          </p:cNvPr>
          <p:cNvSpPr txBox="1"/>
          <p:nvPr/>
        </p:nvSpPr>
        <p:spPr>
          <a:xfrm>
            <a:off x="356755" y="1051032"/>
            <a:ext cx="83993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sudo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nmcli</a:t>
            </a:r>
            <a:r>
              <a:rPr kumimoji="1" lang="en-US" altLang="ja-JP" dirty="0"/>
              <a:t> connection modify higashi-2f </a:t>
            </a:r>
            <a:r>
              <a:rPr kumimoji="1" lang="en-US" altLang="ja-JP" dirty="0" err="1"/>
              <a:t>wifi-sec.key-mgmt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wpa-psk</a:t>
            </a:r>
            <a:endParaRPr kumimoji="1" lang="en-US" altLang="ja-JP" dirty="0"/>
          </a:p>
          <a:p>
            <a:r>
              <a:rPr kumimoji="1" lang="en-US" altLang="ja-JP" dirty="0" err="1"/>
              <a:t>sudo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nmcli</a:t>
            </a:r>
            <a:r>
              <a:rPr kumimoji="1" lang="en-US" altLang="ja-JP" dirty="0"/>
              <a:t> connection modify higashi-2f </a:t>
            </a:r>
            <a:r>
              <a:rPr kumimoji="1" lang="en-US" altLang="ja-JP" dirty="0" err="1"/>
              <a:t>wifi-sec.psk</a:t>
            </a:r>
            <a:r>
              <a:rPr kumimoji="1" lang="en-US" altLang="ja-JP" dirty="0"/>
              <a:t> "hama1297noiti"</a:t>
            </a:r>
          </a:p>
          <a:p>
            <a:r>
              <a:rPr kumimoji="1" lang="en-US" altLang="ja-JP" dirty="0" err="1"/>
              <a:t>sudo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nmcli</a:t>
            </a:r>
            <a:r>
              <a:rPr kumimoji="1" lang="en-US" altLang="ja-JP" dirty="0"/>
              <a:t> connection modify higashi-2f 802-11-wireless.bssid 00:90:FE:E4:99:04</a:t>
            </a:r>
          </a:p>
          <a:p>
            <a:r>
              <a:rPr kumimoji="1" lang="en-US" altLang="ja-JP" dirty="0" err="1"/>
              <a:t>sudo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nmcli</a:t>
            </a:r>
            <a:r>
              <a:rPr kumimoji="1" lang="en-US" altLang="ja-JP" dirty="0"/>
              <a:t> connection modify higashi-2f </a:t>
            </a:r>
            <a:r>
              <a:rPr kumimoji="1" lang="en-US" altLang="ja-JP" dirty="0" err="1"/>
              <a:t>connection.autoconnect</a:t>
            </a:r>
            <a:r>
              <a:rPr kumimoji="1" lang="en-US" altLang="ja-JP" dirty="0"/>
              <a:t> yes</a:t>
            </a:r>
          </a:p>
          <a:p>
            <a:r>
              <a:rPr kumimoji="1" lang="en-US" altLang="ja-JP" dirty="0" err="1"/>
              <a:t>sudo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nmcli</a:t>
            </a:r>
            <a:r>
              <a:rPr kumimoji="1" lang="en-US" altLang="ja-JP" dirty="0"/>
              <a:t> connection modify higashi-2f </a:t>
            </a:r>
            <a:r>
              <a:rPr kumimoji="1" lang="en-US" altLang="ja-JP" dirty="0" err="1"/>
              <a:t>connection.autoconnect</a:t>
            </a:r>
            <a:r>
              <a:rPr kumimoji="1" lang="en-US" altLang="ja-JP" dirty="0"/>
              <a:t>-priority 10</a:t>
            </a:r>
            <a:endParaRPr kumimoji="1" lang="ja-JP" altLang="en-US" dirty="0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B87A6ECF-3401-B412-0320-2FAEA229A530}"/>
              </a:ext>
            </a:extLst>
          </p:cNvPr>
          <p:cNvSpPr/>
          <p:nvPr/>
        </p:nvSpPr>
        <p:spPr>
          <a:xfrm>
            <a:off x="1472864" y="4535054"/>
            <a:ext cx="5888518" cy="858982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AE30AB2-333F-8610-8DAF-95EF089672BF}"/>
              </a:ext>
            </a:extLst>
          </p:cNvPr>
          <p:cNvSpPr txBox="1"/>
          <p:nvPr/>
        </p:nvSpPr>
        <p:spPr>
          <a:xfrm>
            <a:off x="216937" y="5530501"/>
            <a:ext cx="8742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rgbClr val="FF0000"/>
                </a:solidFill>
              </a:rPr>
              <a:t>自動接続 </a:t>
            </a:r>
            <a:r>
              <a:rPr kumimoji="1" lang="en-US" altLang="ja-JP" sz="2000" dirty="0">
                <a:solidFill>
                  <a:srgbClr val="FF0000"/>
                </a:solidFill>
              </a:rPr>
              <a:t>yes </a:t>
            </a:r>
            <a:r>
              <a:rPr kumimoji="1" lang="ja-JP" altLang="en-US" sz="2000" dirty="0">
                <a:solidFill>
                  <a:srgbClr val="FF0000"/>
                </a:solidFill>
              </a:rPr>
              <a:t>にして、優先順位を </a:t>
            </a:r>
            <a:r>
              <a:rPr kumimoji="1" lang="en-US" altLang="ja-JP" sz="2000" dirty="0">
                <a:solidFill>
                  <a:srgbClr val="FF0000"/>
                </a:solidFill>
              </a:rPr>
              <a:t>10 </a:t>
            </a:r>
            <a:r>
              <a:rPr kumimoji="1" lang="ja-JP" altLang="en-US" sz="2000" dirty="0">
                <a:solidFill>
                  <a:srgbClr val="FF0000"/>
                </a:solidFill>
              </a:rPr>
              <a:t>にしました。</a:t>
            </a:r>
          </a:p>
          <a:p>
            <a:r>
              <a:rPr kumimoji="1" lang="ja-JP" altLang="en-US" sz="2000" dirty="0">
                <a:solidFill>
                  <a:srgbClr val="FF0000"/>
                </a:solidFill>
              </a:rPr>
              <a:t>モバイルホットスポットへの接続の優先順位を最優先にします。</a:t>
            </a:r>
          </a:p>
        </p:txBody>
      </p:sp>
    </p:spTree>
    <p:extLst>
      <p:ext uri="{BB962C8B-B14F-4D97-AF65-F5344CB8AC3E}">
        <p14:creationId xmlns:p14="http://schemas.microsoft.com/office/powerpoint/2010/main" val="3427690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59752-919D-3B29-7C21-6875C4229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29794C69-682D-55B8-B80B-5E609B4AC5C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6938" y="1556829"/>
            <a:ext cx="8312002" cy="4681558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03A617A-D412-4289-7424-71B7DB711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36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B263C04-E75D-2066-FE31-44725BEDA592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モバイルホットスポットの接続を最優先にする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EB4549FE-62DC-C233-7003-F4130CF9728D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以下のコマンドを実行します。数字が大きいほど、優先順位が高いです。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DF053F7-B885-557D-AFF5-D6EE34894530}"/>
              </a:ext>
            </a:extLst>
          </p:cNvPr>
          <p:cNvSpPr txBox="1"/>
          <p:nvPr/>
        </p:nvSpPr>
        <p:spPr>
          <a:xfrm>
            <a:off x="356755" y="1051032"/>
            <a:ext cx="839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sudo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nmcli</a:t>
            </a:r>
            <a:r>
              <a:rPr kumimoji="1" lang="en-US" altLang="ja-JP" dirty="0"/>
              <a:t> connection modify  preconfigured </a:t>
            </a:r>
            <a:r>
              <a:rPr kumimoji="1" lang="en-US" altLang="ja-JP" dirty="0" err="1"/>
              <a:t>connection.autoconnect</a:t>
            </a:r>
            <a:r>
              <a:rPr kumimoji="1" lang="en-US" altLang="ja-JP" dirty="0"/>
              <a:t>-priority 100</a:t>
            </a:r>
            <a:endParaRPr kumimoji="1" lang="ja-JP" altLang="en-US" dirty="0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B9650490-EE67-3FD1-856F-3B10F381266A}"/>
              </a:ext>
            </a:extLst>
          </p:cNvPr>
          <p:cNvSpPr/>
          <p:nvPr/>
        </p:nvSpPr>
        <p:spPr>
          <a:xfrm>
            <a:off x="1472864" y="5864312"/>
            <a:ext cx="5888518" cy="203979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5887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02D06-1D39-2F98-B258-7690D861A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76283462-18AF-4AD5-FBB7-EB04BB16C6E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755" y="1853794"/>
            <a:ext cx="7994188" cy="4502556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AD99153-E18D-B897-1B27-60B2B63B8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37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9EF5BFA-C77E-7F4C-06C7-6FA0FCFFACB6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優先度の確認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EAF4A723-D443-2B3C-21A6-082A833AAE5A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以下のコマンドを実行します。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48D8388-0B81-E176-FF75-C223776B2915}"/>
              </a:ext>
            </a:extLst>
          </p:cNvPr>
          <p:cNvSpPr txBox="1"/>
          <p:nvPr/>
        </p:nvSpPr>
        <p:spPr>
          <a:xfrm>
            <a:off x="356755" y="1051032"/>
            <a:ext cx="83993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 </a:t>
            </a:r>
            <a:r>
              <a:rPr kumimoji="1" lang="en-US" altLang="ja-JP" dirty="0" err="1"/>
              <a:t>nmcli</a:t>
            </a:r>
            <a:r>
              <a:rPr kumimoji="1" lang="en-US" altLang="ja-JP" dirty="0"/>
              <a:t> c show preconfigured | grep </a:t>
            </a:r>
            <a:r>
              <a:rPr kumimoji="1" lang="en-US" altLang="ja-JP" dirty="0" err="1"/>
              <a:t>connection.autoconnect</a:t>
            </a:r>
            <a:r>
              <a:rPr kumimoji="1" lang="en-US" altLang="ja-JP" dirty="0"/>
              <a:t>-priority</a:t>
            </a:r>
          </a:p>
          <a:p>
            <a:r>
              <a:rPr kumimoji="1" lang="en-US" altLang="ja-JP" dirty="0"/>
              <a:t> </a:t>
            </a:r>
            <a:r>
              <a:rPr kumimoji="1" lang="en-US" altLang="ja-JP" dirty="0" err="1"/>
              <a:t>nmcli</a:t>
            </a:r>
            <a:r>
              <a:rPr kumimoji="1" lang="en-US" altLang="ja-JP" dirty="0"/>
              <a:t> c show higashi-2f | grep </a:t>
            </a:r>
            <a:r>
              <a:rPr kumimoji="1" lang="en-US" altLang="ja-JP" dirty="0" err="1"/>
              <a:t>connection.autoconnect</a:t>
            </a:r>
            <a:r>
              <a:rPr kumimoji="1" lang="en-US" altLang="ja-JP" dirty="0"/>
              <a:t>-priority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227908DE-F843-6AEA-EB80-94F58F5279EF}"/>
              </a:ext>
            </a:extLst>
          </p:cNvPr>
          <p:cNvSpPr/>
          <p:nvPr/>
        </p:nvSpPr>
        <p:spPr>
          <a:xfrm>
            <a:off x="424872" y="5534689"/>
            <a:ext cx="5929746" cy="696196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43437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6D340-982E-B3DA-E4EE-32ED536B5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B4F24F8A-3599-6508-F3CF-AF33E5C2ED2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9046" y="1957502"/>
            <a:ext cx="8423680" cy="4398847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3FF066E-0DEB-8F2C-8501-9C20D1483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38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F9CBFB0-11C0-3203-D065-00F95303E5FA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部屋の</a:t>
            </a:r>
            <a:r>
              <a:rPr kumimoji="1" lang="en-US" altLang="ja-JP" sz="2400" dirty="0" err="1"/>
              <a:t>WiFi</a:t>
            </a:r>
            <a:r>
              <a:rPr kumimoji="1" lang="en-US" altLang="ja-JP" sz="2400" dirty="0"/>
              <a:t>(higashi-2f)</a:t>
            </a:r>
            <a:r>
              <a:rPr kumimoji="1" lang="ja-JP" altLang="en-US" sz="2400" dirty="0"/>
              <a:t>への接続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CF555C8-AE9A-4BF3-4549-105EEB1475DD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再起動します。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BFEB2F9-59F4-29ED-9A87-7E3A5F846620}"/>
              </a:ext>
            </a:extLst>
          </p:cNvPr>
          <p:cNvSpPr txBox="1"/>
          <p:nvPr/>
        </p:nvSpPr>
        <p:spPr>
          <a:xfrm>
            <a:off x="356755" y="1051032"/>
            <a:ext cx="839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 </a:t>
            </a:r>
            <a:r>
              <a:rPr kumimoji="1" lang="en-US" altLang="ja-JP" dirty="0" err="1"/>
              <a:t>sudo</a:t>
            </a:r>
            <a:r>
              <a:rPr kumimoji="1" lang="ja-JP" altLang="en-US" dirty="0"/>
              <a:t> </a:t>
            </a:r>
            <a:r>
              <a:rPr kumimoji="1" lang="en-US" altLang="ja-JP" dirty="0"/>
              <a:t>reboot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6C8281FB-1C93-9A89-9480-64A6A7CCC42D}"/>
              </a:ext>
            </a:extLst>
          </p:cNvPr>
          <p:cNvSpPr/>
          <p:nvPr/>
        </p:nvSpPr>
        <p:spPr>
          <a:xfrm>
            <a:off x="1186872" y="5110772"/>
            <a:ext cx="715819" cy="172428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BEBCA962-78BF-5B54-A51C-84E860D99D9B}"/>
              </a:ext>
            </a:extLst>
          </p:cNvPr>
          <p:cNvSpPr/>
          <p:nvPr/>
        </p:nvSpPr>
        <p:spPr>
          <a:xfrm>
            <a:off x="7619999" y="2638057"/>
            <a:ext cx="715819" cy="233983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2A23B8C8-5592-37BB-B98E-FABE6C76FEDC}"/>
              </a:ext>
            </a:extLst>
          </p:cNvPr>
          <p:cNvCxnSpPr>
            <a:cxnSpLocks/>
          </p:cNvCxnSpPr>
          <p:nvPr/>
        </p:nvCxnSpPr>
        <p:spPr>
          <a:xfrm>
            <a:off x="808182" y="1420364"/>
            <a:ext cx="623454" cy="3604218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EDE16A8-866C-E90D-C1B3-275FC6B579D5}"/>
              </a:ext>
            </a:extLst>
          </p:cNvPr>
          <p:cNvSpPr txBox="1"/>
          <p:nvPr/>
        </p:nvSpPr>
        <p:spPr>
          <a:xfrm>
            <a:off x="3438571" y="1222857"/>
            <a:ext cx="48972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モバイルホットスポットを「オフ」にします。</a:t>
            </a: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0A526436-EE84-8C9B-C98B-FE51BE4CB4BB}"/>
              </a:ext>
            </a:extLst>
          </p:cNvPr>
          <p:cNvCxnSpPr>
            <a:cxnSpLocks/>
          </p:cNvCxnSpPr>
          <p:nvPr/>
        </p:nvCxnSpPr>
        <p:spPr>
          <a:xfrm>
            <a:off x="6553200" y="1588170"/>
            <a:ext cx="983673" cy="1049887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7634147-D634-5C8C-A999-17E1DCC1F93E}"/>
              </a:ext>
            </a:extLst>
          </p:cNvPr>
          <p:cNvSpPr txBox="1"/>
          <p:nvPr/>
        </p:nvSpPr>
        <p:spPr>
          <a:xfrm>
            <a:off x="1431636" y="1554844"/>
            <a:ext cx="48972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rgbClr val="FF0000"/>
                </a:solidFill>
              </a:rPr>
              <a:t>しばらく再起動を待ちます。</a:t>
            </a:r>
          </a:p>
        </p:txBody>
      </p:sp>
    </p:spTree>
    <p:extLst>
      <p:ext uri="{BB962C8B-B14F-4D97-AF65-F5344CB8AC3E}">
        <p14:creationId xmlns:p14="http://schemas.microsoft.com/office/powerpoint/2010/main" val="26303361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216A6-DFB1-69C3-D430-A2C0C967D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0DDDB1D7-CF83-C638-3748-00B1D11EB60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" y="2047476"/>
            <a:ext cx="7814300" cy="4401238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032841D-A68A-BAE5-332A-1B27BD8F3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39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CD16716-770C-11B3-6F3C-B9A3CA357389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部屋の</a:t>
            </a:r>
            <a:r>
              <a:rPr kumimoji="1" lang="en-US" altLang="ja-JP" sz="2400" dirty="0" err="1"/>
              <a:t>WiFi</a:t>
            </a:r>
            <a:r>
              <a:rPr kumimoji="1" lang="en-US" altLang="ja-JP" sz="2400" dirty="0"/>
              <a:t>(higashi-2f)</a:t>
            </a:r>
            <a:r>
              <a:rPr kumimoji="1" lang="ja-JP" altLang="en-US" sz="2400" dirty="0"/>
              <a:t>への接続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F2A43495-9E6E-3568-0A12-981BAF37CFF3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ssh</a:t>
            </a:r>
            <a:r>
              <a:rPr kumimoji="1" lang="ja-JP" altLang="en-US" sz="2000" dirty="0"/>
              <a:t>接続を試みます。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0B3FAE5-A0FF-1968-F74A-60111BF106BA}"/>
              </a:ext>
            </a:extLst>
          </p:cNvPr>
          <p:cNvSpPr txBox="1"/>
          <p:nvPr/>
        </p:nvSpPr>
        <p:spPr>
          <a:xfrm>
            <a:off x="356755" y="1051032"/>
            <a:ext cx="839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 ssh pi@raspizero2w.local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0CD218FB-5F2C-98AD-D101-601FC18A1E63}"/>
              </a:ext>
            </a:extLst>
          </p:cNvPr>
          <p:cNvSpPr/>
          <p:nvPr/>
        </p:nvSpPr>
        <p:spPr>
          <a:xfrm>
            <a:off x="1648691" y="4648954"/>
            <a:ext cx="1279236" cy="172428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2773984B-FB62-3BCA-87E9-BB5F4D5A91F7}"/>
              </a:ext>
            </a:extLst>
          </p:cNvPr>
          <p:cNvCxnSpPr>
            <a:cxnSpLocks/>
          </p:cNvCxnSpPr>
          <p:nvPr/>
        </p:nvCxnSpPr>
        <p:spPr>
          <a:xfrm>
            <a:off x="2110509" y="1370626"/>
            <a:ext cx="0" cy="3201374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8CB36AC-C234-E0DD-FDD7-F1554F737970}"/>
              </a:ext>
            </a:extLst>
          </p:cNvPr>
          <p:cNvSpPr txBox="1"/>
          <p:nvPr/>
        </p:nvSpPr>
        <p:spPr>
          <a:xfrm>
            <a:off x="2110509" y="1451142"/>
            <a:ext cx="4308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 </a:t>
            </a:r>
            <a:r>
              <a:rPr kumimoji="1" lang="ja-JP" altLang="en-US" dirty="0"/>
              <a:t>何故か、</a:t>
            </a:r>
            <a:r>
              <a:rPr kumimoji="1" lang="en-US" altLang="ja-JP" dirty="0"/>
              <a:t>.local</a:t>
            </a:r>
            <a:r>
              <a:rPr kumimoji="1" lang="ja-JP" altLang="en-US" dirty="0"/>
              <a:t>を付けないとダメでした。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8514328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146AB-ECC0-984A-ACA1-6657005FD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00FFC392-FFFD-3A98-3255-36497A6726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755" y="1837130"/>
            <a:ext cx="7814298" cy="4401237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F51EE71-9650-601C-9FB7-CC0239D49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40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3428E5B-19B3-F3EC-A5EC-6715D7CC66EC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部屋の</a:t>
            </a:r>
            <a:r>
              <a:rPr kumimoji="1" lang="en-US" altLang="ja-JP" sz="2400" dirty="0" err="1"/>
              <a:t>WiFi</a:t>
            </a:r>
            <a:r>
              <a:rPr kumimoji="1" lang="en-US" altLang="ja-JP" sz="2400" dirty="0"/>
              <a:t>(higashi-2f)</a:t>
            </a:r>
            <a:r>
              <a:rPr kumimoji="1" lang="ja-JP" altLang="en-US" sz="2400" dirty="0"/>
              <a:t>への接続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83553ACB-B540-6210-42B6-01707B713E3A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ログイン出来ました。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E5C14ABC-E4E4-35DE-E466-D6375A4441A4}"/>
              </a:ext>
            </a:extLst>
          </p:cNvPr>
          <p:cNvSpPr/>
          <p:nvPr/>
        </p:nvSpPr>
        <p:spPr>
          <a:xfrm>
            <a:off x="333328" y="6034649"/>
            <a:ext cx="1347689" cy="203717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C04A4BFA-EA68-5B17-3CBE-E7E95DB6FE18}"/>
              </a:ext>
            </a:extLst>
          </p:cNvPr>
          <p:cNvCxnSpPr>
            <a:cxnSpLocks/>
          </p:cNvCxnSpPr>
          <p:nvPr/>
        </p:nvCxnSpPr>
        <p:spPr>
          <a:xfrm flipH="1">
            <a:off x="1219200" y="1051032"/>
            <a:ext cx="212436" cy="4865634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42659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AE3AD-8988-B5F7-662A-04BB6DF20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59945FB-41BD-634C-840D-915216A25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41</a:t>
            </a:fld>
            <a:endParaRPr 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FABDF39-D892-C18E-56D9-6AD464989B25}"/>
              </a:ext>
            </a:extLst>
          </p:cNvPr>
          <p:cNvSpPr txBox="1"/>
          <p:nvPr/>
        </p:nvSpPr>
        <p:spPr>
          <a:xfrm>
            <a:off x="868055" y="2262893"/>
            <a:ext cx="740789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400" dirty="0" err="1"/>
              <a:t>WiFi</a:t>
            </a:r>
            <a:r>
              <a:rPr kumimoji="1" lang="ja-JP" altLang="en-US" sz="4400" dirty="0"/>
              <a:t>ルータに接続した</a:t>
            </a:r>
          </a:p>
          <a:p>
            <a:pPr algn="ctr"/>
            <a:r>
              <a:rPr kumimoji="1" lang="ja-JP" altLang="en-US" sz="4400" dirty="0"/>
              <a:t>ラズパイの確認</a:t>
            </a:r>
          </a:p>
        </p:txBody>
      </p:sp>
    </p:spTree>
    <p:extLst>
      <p:ext uri="{BB962C8B-B14F-4D97-AF65-F5344CB8AC3E}">
        <p14:creationId xmlns:p14="http://schemas.microsoft.com/office/powerpoint/2010/main" val="17067923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62D8D-DD1B-1D87-DA64-AE8F38039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B46C8C7-A20B-7A46-DD92-0475E61F7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42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E1DAE14-4F70-FB48-5C35-556FC1621B07}"/>
              </a:ext>
            </a:extLst>
          </p:cNvPr>
          <p:cNvSpPr txBox="1"/>
          <p:nvPr/>
        </p:nvSpPr>
        <p:spPr>
          <a:xfrm>
            <a:off x="216938" y="243077"/>
            <a:ext cx="86130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部屋の</a:t>
            </a:r>
            <a:r>
              <a:rPr kumimoji="1" lang="en-US" altLang="ja-JP" sz="2400" dirty="0" err="1"/>
              <a:t>WiFi</a:t>
            </a:r>
            <a:r>
              <a:rPr kumimoji="1" lang="en-US" altLang="ja-JP" sz="2400" dirty="0"/>
              <a:t>(higashi-2f)</a:t>
            </a:r>
            <a:r>
              <a:rPr kumimoji="1" lang="ja-JP" altLang="en-US" sz="2400" dirty="0"/>
              <a:t>に接続したラズパイの</a:t>
            </a:r>
            <a:endParaRPr kumimoji="1" lang="en-US" altLang="ja-JP" sz="2400" dirty="0"/>
          </a:p>
          <a:p>
            <a:r>
              <a:rPr kumimoji="1" lang="en-US" altLang="ja-JP" sz="2400" dirty="0"/>
              <a:t>IP</a:t>
            </a:r>
            <a:r>
              <a:rPr kumimoji="1" lang="ja-JP" altLang="en-US" sz="2400" dirty="0"/>
              <a:t>アドレスを知りたいとき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E45CC24-7F4F-E816-C64B-A58B04528BEE}"/>
              </a:ext>
            </a:extLst>
          </p:cNvPr>
          <p:cNvSpPr txBox="1"/>
          <p:nvPr/>
        </p:nvSpPr>
        <p:spPr>
          <a:xfrm>
            <a:off x="2396610" y="1257741"/>
            <a:ext cx="4253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>
                <a:hlinkClick r:id="rId2"/>
              </a:rPr>
              <a:t>https://tarosay.github.io/Raspi-IP_Scan/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C3F0543-1E1C-2E65-84A8-D106AADAA3A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1820" y="1627073"/>
            <a:ext cx="6780359" cy="498785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FA48ABB-4ECE-9F52-FD53-13E8DFC140A7}"/>
              </a:ext>
            </a:extLst>
          </p:cNvPr>
          <p:cNvSpPr txBox="1"/>
          <p:nvPr/>
        </p:nvSpPr>
        <p:spPr>
          <a:xfrm>
            <a:off x="216938" y="996631"/>
            <a:ext cx="60901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>
                <a:solidFill>
                  <a:srgbClr val="FF0000"/>
                </a:solidFill>
              </a:rPr>
              <a:t>以下のサイトから</a:t>
            </a:r>
            <a:r>
              <a:rPr kumimoji="1" lang="en-US" altLang="ja-JP" sz="1600" dirty="0">
                <a:solidFill>
                  <a:srgbClr val="FF0000"/>
                </a:solidFill>
              </a:rPr>
              <a:t>IP</a:t>
            </a:r>
            <a:r>
              <a:rPr kumimoji="1" lang="ja-JP" altLang="en-US" sz="1600" dirty="0">
                <a:solidFill>
                  <a:srgbClr val="FF0000"/>
                </a:solidFill>
              </a:rPr>
              <a:t>検索のバッチファイルをダウンロードしてください。</a:t>
            </a: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0A9374A5-F5F4-DE65-6B09-F070DE0A361C}"/>
              </a:ext>
            </a:extLst>
          </p:cNvPr>
          <p:cNvCxnSpPr>
            <a:cxnSpLocks/>
          </p:cNvCxnSpPr>
          <p:nvPr/>
        </p:nvCxnSpPr>
        <p:spPr>
          <a:xfrm>
            <a:off x="1921164" y="1335185"/>
            <a:ext cx="3463636" cy="1629688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2873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75411-0F5B-ACC3-0CE2-EE109D227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CC8C10FC-4416-636C-3D06-4291E34A391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6938" y="2020971"/>
            <a:ext cx="7878618" cy="4437464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F317D66-94BA-101D-4EF6-8502791B0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43</a:t>
            </a:fld>
            <a:endParaRPr 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97B73FC-42A8-60E1-4404-7FB760F4039F}"/>
              </a:ext>
            </a:extLst>
          </p:cNvPr>
          <p:cNvSpPr txBox="1"/>
          <p:nvPr/>
        </p:nvSpPr>
        <p:spPr>
          <a:xfrm>
            <a:off x="216938" y="1451142"/>
            <a:ext cx="5269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LAN</a:t>
            </a:r>
            <a:r>
              <a:rPr kumimoji="1" lang="ja-JP" altLang="en-US" sz="2000" dirty="0"/>
              <a:t>内に見つかった機器と</a:t>
            </a:r>
            <a:r>
              <a:rPr kumimoji="1" lang="en-US" altLang="ja-JP" sz="2000" dirty="0"/>
              <a:t>IP</a:t>
            </a:r>
            <a:r>
              <a:rPr kumimoji="1" lang="ja-JP" altLang="en-US" sz="2000" dirty="0"/>
              <a:t>が表示されます。</a:t>
            </a: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23C15CFC-3F17-3A97-0AB5-31DC97756690}"/>
              </a:ext>
            </a:extLst>
          </p:cNvPr>
          <p:cNvCxnSpPr>
            <a:cxnSpLocks/>
          </p:cNvCxnSpPr>
          <p:nvPr/>
        </p:nvCxnSpPr>
        <p:spPr>
          <a:xfrm flipH="1">
            <a:off x="1985818" y="1851252"/>
            <a:ext cx="64655" cy="2083439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FC186D5-3E02-B87C-52E4-58C96D375226}"/>
              </a:ext>
            </a:extLst>
          </p:cNvPr>
          <p:cNvSpPr txBox="1"/>
          <p:nvPr/>
        </p:nvSpPr>
        <p:spPr>
          <a:xfrm>
            <a:off x="216938" y="243077"/>
            <a:ext cx="86130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部屋の</a:t>
            </a:r>
            <a:r>
              <a:rPr kumimoji="1" lang="en-US" altLang="ja-JP" sz="2400" dirty="0" err="1"/>
              <a:t>WiFi</a:t>
            </a:r>
            <a:r>
              <a:rPr kumimoji="1" lang="en-US" altLang="ja-JP" sz="2400" dirty="0"/>
              <a:t>(higashi-2f)</a:t>
            </a:r>
            <a:r>
              <a:rPr kumimoji="1" lang="ja-JP" altLang="en-US" sz="2400" dirty="0"/>
              <a:t>に接続したラズパイの</a:t>
            </a:r>
            <a:endParaRPr kumimoji="1" lang="en-US" altLang="ja-JP" sz="2400" dirty="0"/>
          </a:p>
          <a:p>
            <a:r>
              <a:rPr kumimoji="1" lang="en-US" altLang="ja-JP" sz="2400" dirty="0"/>
              <a:t>IP</a:t>
            </a:r>
            <a:r>
              <a:rPr kumimoji="1" lang="ja-JP" altLang="en-US" sz="2400" dirty="0"/>
              <a:t>アドレスを知りたいとき</a:t>
            </a:r>
          </a:p>
        </p:txBody>
      </p:sp>
    </p:spTree>
    <p:extLst>
      <p:ext uri="{BB962C8B-B14F-4D97-AF65-F5344CB8AC3E}">
        <p14:creationId xmlns:p14="http://schemas.microsoft.com/office/powerpoint/2010/main" val="1034298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3883</TotalTime>
  <Words>1203</Words>
  <Application>Microsoft Office PowerPoint</Application>
  <PresentationFormat>画面に合わせる (4:3)</PresentationFormat>
  <Paragraphs>203</Paragraphs>
  <Slides>44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44</vt:i4>
      </vt:variant>
    </vt:vector>
  </HeadingPairs>
  <TitlesOfParts>
    <vt:vector size="48" baseType="lpstr">
      <vt:lpstr>游ゴシック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山本三七男</dc:creator>
  <cp:keywords/>
  <dc:description>generated using python-pptx</dc:description>
  <cp:lastModifiedBy>三七男 山本</cp:lastModifiedBy>
  <cp:revision>206</cp:revision>
  <dcterms:created xsi:type="dcterms:W3CDTF">2013-01-27T09:14:16Z</dcterms:created>
  <dcterms:modified xsi:type="dcterms:W3CDTF">2025-10-27T15:01:04Z</dcterms:modified>
  <cp:category/>
</cp:coreProperties>
</file>